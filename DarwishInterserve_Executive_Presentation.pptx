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224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3200400" cy="32004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822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22649"/>
                </a:solidFill>
                <a:latin typeface="Calibri"/>
              </a:rPr>
              <a:t>DI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82296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12070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DARWISH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5727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C96A"/>
                </a:solidFill>
                <a:latin typeface="Calibri"/>
              </a:rPr>
              <a:t>INTERSERVE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8745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Facility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23160"/>
            <a:ext cx="2011680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3347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Mobile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C96A"/>
                </a:solidFill>
                <a:latin typeface="Calibri"/>
              </a:rPr>
              <a:t>Executive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Calibri"/>
              </a:rPr>
              <a:t>Integrated Facility Management Platform  ·  React Native (Expo)  ·  Qatar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029200"/>
            <a:ext cx="2514600" cy="1005840"/>
          </a:xfrm>
          <a:prstGeom prst="rect">
            <a:avLst/>
          </a:prstGeom>
          <a:solidFill>
            <a:srgbClr val="1F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4C"/>
                </a:solidFill>
                <a:latin typeface="Calibri"/>
              </a:rPr>
              <a:t>3,500+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595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  <a:latin typeface="Calibri"/>
              </a:rPr>
              <a:t>Employees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5029200"/>
            <a:ext cx="2514600" cy="1005840"/>
          </a:xfrm>
          <a:prstGeom prst="rect">
            <a:avLst/>
          </a:prstGeom>
          <a:solidFill>
            <a:srgbClr val="1F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50749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4C"/>
                </a:solidFill>
                <a:latin typeface="Calibri"/>
              </a:rPr>
              <a:t>100+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5595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  <a:latin typeface="Calibri"/>
              </a:rPr>
              <a:t>Active Projects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5029200"/>
            <a:ext cx="2514600" cy="1005840"/>
          </a:xfrm>
          <a:prstGeom prst="rect">
            <a:avLst/>
          </a:prstGeom>
          <a:solidFill>
            <a:srgbClr val="1F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50749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4C"/>
                </a:solidFill>
                <a:latin typeface="Calibri"/>
              </a:rPr>
              <a:t>14+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5595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  <a:latin typeface="Calibri"/>
              </a:rPr>
              <a:t>Years in Qatar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5029200"/>
            <a:ext cx="2514600" cy="1005840"/>
          </a:xfrm>
          <a:prstGeom prst="rect">
            <a:avLst/>
          </a:prstGeom>
          <a:solidFill>
            <a:srgbClr val="1F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50749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4C"/>
                </a:solidFill>
                <a:latin typeface="Calibri"/>
              </a:rPr>
              <a:t>235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55595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  <a:latin typeface="Calibri"/>
              </a:rPr>
              <a:t>Active Sites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CONFIDENTIAL — FOR MANAGEMENT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We'll Cover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00200"/>
            <a:ext cx="557784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475488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64792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84C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642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Company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208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Who we are, our vision, mission &amp; certifications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532888"/>
            <a:ext cx="557784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532888"/>
            <a:ext cx="475488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697480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84C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59689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App Purpose &amp; User Journey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953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Guest &amp; Employee authentication flows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465576"/>
            <a:ext cx="557784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465576"/>
            <a:ext cx="475488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630168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84C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5295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Home Dashboard &amp; Sub-Tabs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886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Website · Management Team · Heads · Employees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398264"/>
            <a:ext cx="557784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398264"/>
            <a:ext cx="475488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562856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84C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4622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Services Portfolio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8188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Hard, Soft &amp; Managed FM services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5330952"/>
            <a:ext cx="557784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5330952"/>
            <a:ext cx="475488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49554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84C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3949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Projects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7515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Active engagements across sectors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1600200"/>
            <a:ext cx="557784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1600200"/>
            <a:ext cx="475488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1764792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84C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16642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News &amp; Events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20208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Internal communications platform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2532888"/>
            <a:ext cx="557784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2532888"/>
            <a:ext cx="475488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2697480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84C"/>
                </a:solidFill>
                <a:latin typeface="Calibri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259689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Leadership Hierarchy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2953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Org chart from CEO to Department Heads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3465576"/>
            <a:ext cx="557784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80" y="3465576"/>
            <a:ext cx="475488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3630168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84C"/>
                </a:solidFill>
                <a:latin typeface="Calibri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35295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Employee Management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3886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Searchable staff directory with status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4398264"/>
            <a:ext cx="557784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5080" y="4398264"/>
            <a:ext cx="475488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4562856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84C"/>
                </a:solidFill>
                <a:latin typeface="Calibri"/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44622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Profile &amp; Company About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48188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Vision, Mission, Values, ISO certs, Contact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55080" y="5330952"/>
            <a:ext cx="5577840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5080" y="5330952"/>
            <a:ext cx="475488" cy="8046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5495544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84C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53949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Technology &amp; Next Steps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3720" y="57515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Tech stack, roadmap &amp; call to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COMPANY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Who We 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539496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WHO WE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2649"/>
                </a:solidFill>
                <a:latin typeface="Calibri"/>
              </a:rPr>
              <a:t>A 100% Qatari-Owned Integrated FM Company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Darwish Interserve Facility Management (DIFM) is a joint venture between Darwish Holdings and Interserve, delivering world-class integrated facility management services across Qatar since 2010. We serve government, aviation, education, and commercial sectors.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520440"/>
            <a:ext cx="2587752" cy="150876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3A6B"/>
                </a:solidFill>
                <a:latin typeface="Calibri"/>
              </a:rPr>
              <a:t>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58768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22649"/>
                </a:solidFill>
                <a:latin typeface="Calibri"/>
              </a:rPr>
              <a:t>To be the leading FM provider in Qatar, delivering excellence through innovation, quality, and customer satisfaction.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3520440"/>
            <a:ext cx="2587752" cy="1508760"/>
          </a:xfrm>
          <a:prstGeom prst="roundRect">
            <a:avLst>
              <a:gd name="adj" fmla="val 5000"/>
            </a:avLst>
          </a:prstGeom>
          <a:solidFill>
            <a:srgbClr val="FFF8E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858768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22649"/>
                </a:solidFill>
                <a:latin typeface="Calibri"/>
              </a:rPr>
              <a:t>To provide reliable and efficient FM services while maintaining the highest standards of safety, quality, and sustainability.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508760"/>
            <a:ext cx="2697480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508760"/>
            <a:ext cx="2697480" cy="1645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764792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B82F6"/>
                </a:solidFill>
                <a:latin typeface="Calibri"/>
              </a:rPr>
              <a:t>3,500+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40487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Skilled Employees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508760"/>
            <a:ext cx="2697480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508760"/>
            <a:ext cx="2697480" cy="1645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764792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9A84C"/>
                </a:solidFill>
                <a:latin typeface="Calibri"/>
              </a:rPr>
              <a:t>100+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40487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Active Projects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337560"/>
            <a:ext cx="2697480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337560"/>
            <a:ext cx="269748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593591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0B981"/>
                </a:solidFill>
                <a:latin typeface="Calibri"/>
              </a:rPr>
              <a:t>14+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23367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Years of Excellence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3337560"/>
            <a:ext cx="2697480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2560" y="3337560"/>
            <a:ext cx="2697480" cy="164592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3593591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A5298"/>
                </a:solidFill>
                <a:latin typeface="Calibri"/>
              </a:rPr>
              <a:t>235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233672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Active Sites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5212080"/>
            <a:ext cx="274320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5212080"/>
            <a:ext cx="274320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3035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B82F6"/>
                </a:solidFill>
                <a:latin typeface="Calibri"/>
              </a:rPr>
              <a:t>ISO 9001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6327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Quality Mgmt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55848" y="5212080"/>
            <a:ext cx="274320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55848" y="5212080"/>
            <a:ext cx="274320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55848" y="53035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  <a:latin typeface="Calibri"/>
              </a:rPr>
              <a:t>ISO 14001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55848" y="56327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Environment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0216" y="5212080"/>
            <a:ext cx="274320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0216" y="5212080"/>
            <a:ext cx="2743200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0216" y="53035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F4444"/>
                </a:solidFill>
                <a:latin typeface="Calibri"/>
              </a:rPr>
              <a:t>ISO 45001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216" y="56327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H&amp;S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44584" y="5212080"/>
            <a:ext cx="274320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44584" y="5212080"/>
            <a:ext cx="274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44584" y="53035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C3AED"/>
                </a:solidFill>
                <a:latin typeface="Calibri"/>
              </a:rPr>
              <a:t>ISO 41001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44584" y="56327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FM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APP OVERVIEW &amp; USER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Dual-Access Authentication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502920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2649"/>
                </a:solidFill>
                <a:latin typeface="Calibri"/>
              </a:rPr>
              <a:t>What the App Solves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 single, secure mobile gateway for both internal employees and external guests to access facility management information, project updates, events, and staff directories.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200400"/>
            <a:ext cx="5029200" cy="1298448"/>
          </a:xfrm>
          <a:prstGeom prst="roundRect">
            <a:avLst>
              <a:gd name="adj" fmla="val 5000"/>
            </a:avLst>
          </a:prstGeom>
          <a:solidFill>
            <a:srgbClr val="FFF8E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101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2649"/>
                </a:solidFill>
                <a:latin typeface="Calibri"/>
              </a:rPr>
              <a:t>👤  Guest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57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Gmail OTP · No account required · View-only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709160"/>
            <a:ext cx="5029200" cy="1298448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8188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2649"/>
                </a:solidFill>
                <a:latin typeface="Calibri"/>
              </a:rPr>
              <a:t>🏢  Employee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166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SMS OTP · Full dashboard · Work orders · Profile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1481328"/>
            <a:ext cx="61722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1481328"/>
            <a:ext cx="475488" cy="8961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1682496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5361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Welcome Screen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88366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Brand landing with Guest &amp; Employee entry points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16168" y="2395728"/>
            <a:ext cx="64008" cy="1188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5000" y="2514600"/>
            <a:ext cx="61722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0" y="2514600"/>
            <a:ext cx="475488" cy="896112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715768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5694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Authentication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91693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Enter credentials · OTP verification (Gmail / SMS)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16168" y="3429000"/>
            <a:ext cx="64008" cy="1188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15000" y="3547872"/>
            <a:ext cx="61722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15000" y="3547872"/>
            <a:ext cx="475488" cy="8961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0" y="3749039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60273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OTP 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9502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6-digit code · Auto-advance · Countdown resend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16168" y="4462272"/>
            <a:ext cx="64008" cy="1188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715000" y="4581144"/>
            <a:ext cx="61722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15000" y="4581144"/>
            <a:ext cx="475488" cy="8961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0" y="4782312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63600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Main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98348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Home · Events · Projects · Profile tabs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16168" y="5495544"/>
            <a:ext cx="64008" cy="1188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715000" y="5614416"/>
            <a:ext cx="61722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15000" y="5614416"/>
            <a:ext cx="475488" cy="8961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5000" y="5815583"/>
            <a:ext cx="475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566927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Content &amp; Actions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60167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Sub-tabs · Search · Project detail · Notifications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HOME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4 Interactive Sub-Tabs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2743200" cy="594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361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Website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103120"/>
            <a:ext cx="274320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359152"/>
            <a:ext cx="64008" cy="640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240280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Company hero &amp; welcome banner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64008" cy="640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898648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About Us — DIFM overview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675888"/>
            <a:ext cx="64008" cy="640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557016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Our Services (Hard, Soft, Managed)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334256"/>
            <a:ext cx="64008" cy="640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215384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By The Numbers stats grid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992624"/>
            <a:ext cx="64008" cy="640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873752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Client logos (HIA, QU, Katara…)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650992"/>
            <a:ext cx="64008" cy="6400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532120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CTA: Explore Projects · Contact 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46704" y="1508760"/>
            <a:ext cx="2743200" cy="594360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6704" y="15361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9624" y="15544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Management Team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46704" y="2103120"/>
            <a:ext cx="274320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29584" y="2359152"/>
            <a:ext cx="64008" cy="64008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94176" y="2240280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Visual org-chart hierarchy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9584" y="3017520"/>
            <a:ext cx="64008" cy="64008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94176" y="2898648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CEO at the apex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9584" y="3675888"/>
            <a:ext cx="64008" cy="64008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94176" y="3557016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COO → HR Director &amp; Ops Director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9584" y="4334256"/>
            <a:ext cx="64008" cy="64008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94176" y="4215384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CFO  ·  CTO direct reports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9584" y="4992624"/>
            <a:ext cx="64008" cy="64008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94176" y="4873752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Colour-coded reporting lines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9584" y="5650992"/>
            <a:ext cx="64008" cy="64008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94176" y="5532120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Role badges on each card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1928" y="1508760"/>
            <a:ext cx="2743200" cy="5943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81928" y="15361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Calibri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4848" y="15544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Management Heads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81928" y="2103120"/>
            <a:ext cx="274320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64808" y="2359152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2240280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8 department head detail cards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64808" y="3017520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2898648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Reporting line clearly shown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64808" y="3675888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9400" y="3557016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Team size &amp; active site count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64808" y="4334256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4215384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Key responsibilities per head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64808" y="4992624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29400" y="4873752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Ordered by reporting structure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64808" y="5650992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29400" y="5532120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Colour-coded by department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17151" y="1508760"/>
            <a:ext cx="274320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17151" y="15361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Calibri"/>
              </a:rPr>
              <a:t>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20072" y="15544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Employee List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17151" y="2103120"/>
            <a:ext cx="274320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400031" y="2359152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64624" y="2240280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Searchable directory of all staff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00031" y="301752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64624" y="2898648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Real-time filter by name / dept / ID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00031" y="3675888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64624" y="3557016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Employee ID (DI-2024-XXX) shown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00031" y="4334256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64624" y="4215384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Active / On Leave status badges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400031" y="4992624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64624" y="4873752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Department grouping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400031" y="5650992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64624" y="5532120"/>
            <a:ext cx="2267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Live count updates on 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SERVICES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Integrated Facility Management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37033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370332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636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Hard 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2075688"/>
            <a:ext cx="54864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984248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Mechanical &amp; Electrical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2414016"/>
            <a:ext cx="54864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2322576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HVAC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2752344"/>
            <a:ext cx="54864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2660904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Civil &amp; Structural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3090672"/>
            <a:ext cx="54864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2999232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Plumbing &amp; Fire Safety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" y="3429000"/>
            <a:ext cx="54864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333756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Preventive Maintenance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508760"/>
            <a:ext cx="37033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1508760"/>
            <a:ext cx="37033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15636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Soft Services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07992" y="2075688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54296" y="1984248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Cleaning &amp; Housekeeping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07992" y="2414016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4296" y="2322576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Landscaping &amp; Horticulture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07992" y="2752344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54296" y="2660904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Pest Control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07992" y="3090672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4296" y="2999232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Security &amp; Guarding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07992" y="3429000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54296" y="333756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Support Services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19" y="1508760"/>
            <a:ext cx="37033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1508760"/>
            <a:ext cx="370332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15636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Managed Services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9911" y="2075688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86215" y="1984248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Energy Management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39911" y="2414016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86215" y="2322576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CAFM / CMMS Platform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39911" y="2752344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86215" y="2660904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Compliance &amp; Auditing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39911" y="3090672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86215" y="2999232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Consulting &amp; Advisory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9911" y="3429000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86215" y="333756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International Standards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4023360"/>
            <a:ext cx="37033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1480" y="4023360"/>
            <a:ext cx="370332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0782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MEP Engineering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6072" y="4590288"/>
            <a:ext cx="5486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2376" y="4498848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Mechanical Systems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" y="4928616"/>
            <a:ext cx="5486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2376" y="4837176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Electrical Infrastructure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6072" y="5266944"/>
            <a:ext cx="5486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2376" y="5175504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Plumbing Networks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72" y="5605272"/>
            <a:ext cx="5486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2376" y="5513831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BMS Integration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072" y="5943600"/>
            <a:ext cx="54864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2376" y="585216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Asset Management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43400" y="4023360"/>
            <a:ext cx="37033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43400" y="4023360"/>
            <a:ext cx="3703320" cy="411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80560" y="40782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Cleaning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07992" y="4590288"/>
            <a:ext cx="54864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54296" y="4498848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Daily Housekeeping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07992" y="4928616"/>
            <a:ext cx="54864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54296" y="4837176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Deep Cleaning Cycles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07992" y="5266944"/>
            <a:ext cx="54864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54296" y="5175504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Specialised Cleaning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07992" y="5605272"/>
            <a:ext cx="54864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54296" y="5513831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Waste Management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07992" y="5943600"/>
            <a:ext cx="54864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54296" y="585216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Hygiene Compliance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75319" y="4023360"/>
            <a:ext cx="370332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75319" y="4023360"/>
            <a:ext cx="370332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12480" y="40782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39911" y="4590288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86215" y="4498848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Access Control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39911" y="4928616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86215" y="4837176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CCTV &amp; Monitoring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439911" y="5266944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86215" y="5175504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Manned Guarding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439911" y="5605272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86215" y="5513831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Incident Response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439911" y="5943600"/>
            <a:ext cx="548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586215" y="585216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Emergency Protocols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PROJECTS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Active Engagements Across Sectors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81328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81328"/>
            <a:ext cx="2743200" cy="10972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727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3A6B"/>
                </a:solidFill>
                <a:latin typeface="Calibri"/>
              </a:rPr>
              <a:t>100+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Active Projects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1481328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6704" y="1481328"/>
            <a:ext cx="274320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6704" y="15727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82F6"/>
                </a:solidFill>
                <a:latin typeface="Calibri"/>
              </a:rPr>
              <a:t>235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Total Sites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481328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8" y="1481328"/>
            <a:ext cx="274320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5727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Calibri"/>
              </a:rPr>
              <a:t>3,500+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Workforce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7151" y="1481328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17151" y="1481328"/>
            <a:ext cx="2743200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1" y="15727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4C"/>
                </a:solidFill>
                <a:latin typeface="Calibri"/>
              </a:rPr>
              <a:t>14+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1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Years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651760"/>
            <a:ext cx="370332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2651760"/>
            <a:ext cx="37033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6791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2715768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Integrated FM — Education Sector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2186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CLIENT: Qatar Public Schools · MoE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215 sites · 1,200+ staff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749039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Qatar's largest FM contract covering schools nationwide with full soft and hard services, preventive maintenance, and compliance.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45152"/>
            <a:ext cx="3383280" cy="1280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645152"/>
            <a:ext cx="3112617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480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Progress  92%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9011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View in App 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2651760"/>
            <a:ext cx="370332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43400" y="2651760"/>
            <a:ext cx="37033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26791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10328" y="2715768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Aviation Facility Maintenance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32186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CLIENT: Hamad International Airport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12 sites · 240 staff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3749039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Specialised HVAC, MEP, and fire-safety systems maintenance for one of the world's top-rated international airports.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4645152"/>
            <a:ext cx="3383280" cy="1280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80560" y="4645152"/>
            <a:ext cx="2638958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0" y="4480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Progress  78%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49011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View in App 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75319" y="2651760"/>
            <a:ext cx="370332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75319" y="2651760"/>
            <a:ext cx="370332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19" y="26791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42247" y="2715768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Commercial Property Management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32186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CLIENT: Corporate Clients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8 sites · 95 staff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3749039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End-to-end facility management ensuring operational efficiency and tenant satisfaction across premium commercial properties.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4645152"/>
            <a:ext cx="3383280" cy="1280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412480" y="4645152"/>
            <a:ext cx="1184148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0" y="4480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Progress  35%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49011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View in App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NEWS &amp;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Internal Communications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6858000" cy="2926080"/>
          </a:xfrm>
          <a:prstGeom prst="roundRect">
            <a:avLst>
              <a:gd name="adj" fmla="val 5000"/>
            </a:avLst>
          </a:prstGeom>
          <a:solidFill>
            <a:srgbClr val="1B3A6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★  FEATURED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Mandatory HSE Safety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328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C96A"/>
                </a:solidFill>
                <a:latin typeface="Calibri"/>
              </a:rPr>
              <a:t>📅  May 10, 2026  ·  09:00 – 12:00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C96A"/>
                </a:solidFill>
                <a:latin typeface="Calibri"/>
              </a:rPr>
              <a:t>📍  Main Office, Doha  ·  +142 attending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8211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EE"/>
                </a:solidFill>
                <a:latin typeface="Calibri"/>
              </a:rPr>
              <a:t>Mandatory attendance for all site supervisors and HSE officers. Covers updated Qatar Civil Defence requirements and incident response protocols.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977639"/>
            <a:ext cx="6492240" cy="9144"/>
          </a:xfrm>
          <a:prstGeom prst="rect">
            <a:avLst/>
          </a:prstGeom>
          <a:solidFill>
            <a:srgbClr val="33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0416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RSVP 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645152"/>
            <a:ext cx="1261872" cy="34747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663440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10512" y="4645152"/>
            <a:ext cx="12618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10512" y="4663440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9544" y="4645152"/>
            <a:ext cx="12618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9544" y="4663440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HSE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4645152"/>
            <a:ext cx="12618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6" y="4663440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Company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07608" y="4645152"/>
            <a:ext cx="12618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07608" y="4663440"/>
            <a:ext cx="1261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Holidays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1508759"/>
            <a:ext cx="4187952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1480" y="3227832"/>
            <a:ext cx="4187952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11480" y="4946904"/>
            <a:ext cx="4187952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43800" y="1508760"/>
            <a:ext cx="434340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43800" y="1508760"/>
            <a:ext cx="685800" cy="150876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1764792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alibri"/>
              </a:rP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2148839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  <a:latin typeface="Calibri"/>
              </a:rPr>
              <a:t>MAY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71231" y="1618488"/>
            <a:ext cx="621792" cy="73152"/>
          </a:xfrm>
          <a:prstGeom prst="rect">
            <a:avLst/>
          </a:prstGeom>
          <a:solidFill>
            <a:srgbClr val="C8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1600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● Training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187451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49"/>
                </a:solidFill>
                <a:latin typeface="Calibri"/>
              </a:rPr>
              <a:t>New Work Order System Walkthrough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286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14:00–15:30  ·  Online – MS Teams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3246120"/>
            <a:ext cx="434340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43800" y="3246120"/>
            <a:ext cx="685800" cy="150876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43800" y="3502152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C3AED"/>
                </a:solidFill>
                <a:latin typeface="Calibri"/>
              </a:rPr>
              <a:t>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38862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MAY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71231" y="3355848"/>
            <a:ext cx="621792" cy="73152"/>
          </a:xfrm>
          <a:prstGeom prst="rect">
            <a:avLst/>
          </a:prstGeom>
          <a:solidFill>
            <a:srgbClr val="C8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3337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● Company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611879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49"/>
                </a:solidFill>
                <a:latin typeface="Calibri"/>
              </a:rPr>
              <a:t>Q2 Town Hall Meeting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02335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10:00–11:30  ·  DIFM Auditorium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43800" y="4983479"/>
            <a:ext cx="434340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43800" y="4983479"/>
            <a:ext cx="685800" cy="150876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43800" y="5239512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  <a:latin typeface="Calibri"/>
              </a:rPr>
              <a:t>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5623559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MAY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71231" y="5093207"/>
            <a:ext cx="621792" cy="73152"/>
          </a:xfrm>
          <a:prstGeom prst="rect">
            <a:avLst/>
          </a:prstGeom>
          <a:solidFill>
            <a:srgbClr val="C8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0" y="507491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● Holiday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53492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49"/>
                </a:solidFill>
                <a:latin typeface="Calibri"/>
              </a:rPr>
              <a:t>Eid Al-Adha Holiday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576071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All Day  ·  Company-wide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1480" y="5138928"/>
            <a:ext cx="2148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5138928"/>
            <a:ext cx="214884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212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4C"/>
                </a:solidFill>
                <a:latin typeface="Calibri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565099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Upcoming Events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43200" y="5138928"/>
            <a:ext cx="2148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0" y="5138928"/>
            <a:ext cx="21488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0" y="5212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B82F6"/>
                </a:solidFill>
                <a:latin typeface="Calibri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0" y="565099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New This Week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74920" y="5138928"/>
            <a:ext cx="2148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74920" y="5138928"/>
            <a:ext cx="21488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74920" y="5212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Calibri"/>
              </a:rPr>
              <a:t>142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74920" y="565099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RSVPs Confirmed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LEADERSHIP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Organisational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81328"/>
            <a:ext cx="3200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1481328"/>
            <a:ext cx="3200400" cy="91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90288" y="1664208"/>
            <a:ext cx="548640" cy="54864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73736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1591056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Khalid Al-Darwish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938528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Chief Executive Officer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22592" y="175564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1755648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B3A6B"/>
                </a:solidFill>
                <a:latin typeface="Calibri"/>
              </a:rPr>
              <a:t>CEO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2441448"/>
            <a:ext cx="22860" cy="38404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0" y="2825496"/>
            <a:ext cx="8503920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2825496"/>
            <a:ext cx="22860" cy="32004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" y="3145536"/>
            <a:ext cx="42062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45536"/>
            <a:ext cx="42062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332841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340156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JR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255264"/>
            <a:ext cx="33101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James Richardson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3602736"/>
            <a:ext cx="331012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Chief Operating Officer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59352" y="3419856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59352" y="341985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5F46"/>
                </a:solidFill>
                <a:latin typeface="Calibri"/>
              </a:rPr>
              <a:t>COO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71616" y="2825496"/>
            <a:ext cx="22860" cy="32004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80560" y="3145536"/>
            <a:ext cx="3200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3145536"/>
            <a:ext cx="320040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90288" y="3328416"/>
            <a:ext cx="548640" cy="5486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340156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3255264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Ahmed Hassan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3602736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Chief Financial Officer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22592" y="3419856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22592" y="341985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2400E"/>
                </a:solidFill>
                <a:latin typeface="Calibri"/>
              </a:rPr>
              <a:t>CFO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49256" y="2825496"/>
            <a:ext cx="22860" cy="32004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595360" y="3145536"/>
            <a:ext cx="3200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95360" y="3145536"/>
            <a:ext cx="32004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05088" y="332841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05088" y="340156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8" y="3255264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Mohammed Al-Qahtani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5168" y="3602736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Chief Technology Officer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137392" y="3419856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37392" y="3419856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C1D95"/>
                </a:solidFill>
                <a:latin typeface="Calibri"/>
              </a:rPr>
              <a:t>CTO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14600" y="4105656"/>
            <a:ext cx="22860" cy="32918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" y="4434840"/>
            <a:ext cx="3566160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5800" y="4434840"/>
            <a:ext cx="22860" cy="29260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51960" y="4434840"/>
            <a:ext cx="22860" cy="29260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11480" y="4727448"/>
            <a:ext cx="36576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4727448"/>
            <a:ext cx="3657600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21208" y="4910328"/>
            <a:ext cx="548640" cy="5486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8" y="498348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1288" y="4837176"/>
            <a:ext cx="2761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Sara Al-Mansoori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1288" y="5184648"/>
            <a:ext cx="2761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HR Director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10712" y="500176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10712" y="5001768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D174D"/>
                </a:solidFill>
                <a:latin typeface="Calibri"/>
              </a:rPr>
              <a:t>HR Dir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51960" y="4727448"/>
            <a:ext cx="36576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51960" y="4727448"/>
            <a:ext cx="365760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361688" y="4910328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61688" y="498348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01768" y="4837176"/>
            <a:ext cx="2761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David Thompson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01768" y="5184648"/>
            <a:ext cx="2761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Operations Director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251192" y="500176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51192" y="5001768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40AF"/>
                </a:solidFill>
                <a:latin typeface="Calibri"/>
              </a:rPr>
              <a:t>Ops Dir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71616" y="4105656"/>
            <a:ext cx="22860" cy="32918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80560" y="4434840"/>
            <a:ext cx="3200400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049256" y="4105656"/>
            <a:ext cx="22860" cy="62179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595360" y="4727448"/>
            <a:ext cx="3200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595360" y="4727448"/>
            <a:ext cx="32004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05088" y="491032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05088" y="498348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45168" y="4837176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Omar Siddiqui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45168" y="5184648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Head of IT &amp; Systems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1137392" y="500176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137392" y="5001768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C1D95"/>
                </a:solidFill>
                <a:latin typeface="Calibri"/>
              </a:rPr>
              <a:t>IT Head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63440" y="4434840"/>
            <a:ext cx="22860" cy="29260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498079" y="4434840"/>
            <a:ext cx="22860" cy="29260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4480560" y="4727448"/>
            <a:ext cx="28346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480560" y="4727448"/>
            <a:ext cx="283464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590288" y="4910328"/>
            <a:ext cx="548640" cy="5486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90288" y="498348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30368" y="4837176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Rania Mahmoud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30368" y="5184648"/>
            <a:ext cx="19385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Head of Finance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656832" y="500176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656832" y="5001768"/>
            <a:ext cx="5669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2400E"/>
                </a:solidFill>
                <a:latin typeface="Calibri"/>
              </a:rPr>
              <a:t>Finance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MANAGEMENT HEADS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Department Heads &amp; Team Details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2788920" cy="91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1691639"/>
            <a:ext cx="594360" cy="59436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673351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Ibrahim Al-Khalidi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  <a:latin typeface="Calibri"/>
              </a:rPr>
              <a:t>Hard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79191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Reports to: COO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35224"/>
            <a:ext cx="24688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900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Team: 320 staff · 45+ sites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6440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MEP · Civil · HVAC · PM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6704" y="15087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46704" y="1508760"/>
            <a:ext cx="27889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83864" y="1691639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3864" y="17830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4" y="1673351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Nadia Al-Farsi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3864" y="24231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Soft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3864" y="2679191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Reports to: COO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83864" y="2935224"/>
            <a:ext cx="24688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83864" y="29900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Team: 280 staff · 38+ sites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3864" y="326440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Cleaning · Landscaping · Security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15087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81928" y="1508760"/>
            <a:ext cx="278892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19088" y="1691639"/>
            <a:ext cx="594360" cy="5943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17830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1673351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Faisal Al-Kuwari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24231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4B8A6"/>
                </a:solidFill>
                <a:latin typeface="Calibri"/>
              </a:rPr>
              <a:t>Projects &amp; Eng.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2679191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Reports to: Ops Dir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2935224"/>
            <a:ext cx="24688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29900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Team: 95 engineers · 100+ projects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326440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Fit-Out · Refurb · Delivery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17151" y="1508760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17151" y="1508760"/>
            <a:ext cx="278892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54311" y="1691639"/>
            <a:ext cx="594360" cy="59436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54311" y="17830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0111" y="1673351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Rania Mahmoud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1" y="242316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Finance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54311" y="2679191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Reports to: CFO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54311" y="2935224"/>
            <a:ext cx="24688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54311" y="299008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Team: 28 staff · QAR 500M+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54311" y="326440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Budgeting · Payroll · Reporting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3977639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3977639"/>
            <a:ext cx="2788920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48640" y="4160520"/>
            <a:ext cx="594360" cy="5943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4251959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34440" y="4142231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Aisha Al-Thani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8920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C4899"/>
                </a:solidFill>
                <a:latin typeface="Calibri"/>
              </a:rPr>
              <a:t>Procurement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14807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Reports to: CFO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404104"/>
            <a:ext cx="24688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4589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Team: 18 staff · 200+ vendors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7332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Contracts · Sourcing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346704" y="3977639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46704" y="3977639"/>
            <a:ext cx="27889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483864" y="416052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83864" y="4251959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69664" y="4142231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Omar Siddiqui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83864" y="48920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IT &amp; Systems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83864" y="514807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Reports to: CTO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83864" y="5404104"/>
            <a:ext cx="24688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83864" y="54589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Team: 24 staff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83864" y="57332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CAFM · CMMS · Mobile Platform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81928" y="3977639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81928" y="3977639"/>
            <a:ext cx="278892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419088" y="4160520"/>
            <a:ext cx="594360" cy="5943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19088" y="4251959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04888" y="4142231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Peter Collins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19088" y="48920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HSE &amp; Safety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19088" y="514807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Reports to: COO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19088" y="5404104"/>
            <a:ext cx="24688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19088" y="54589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Team: 15 officers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19088" y="57332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Audits · ISO 45001 · Incidents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217151" y="3977639"/>
            <a:ext cx="27889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217151" y="3977639"/>
            <a:ext cx="278892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354311" y="4160520"/>
            <a:ext cx="594360" cy="5943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354311" y="4251959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40111" y="4142231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Linda Brown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54311" y="48920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Client Relations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54311" y="514807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Reports to: Ops Dir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54311" y="5404104"/>
            <a:ext cx="24688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54311" y="54589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Team: 12 staff · 50+ accounts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54311" y="57332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SLA · Client Satisfaction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EMPLOYEE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Searchable Staff Directory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731520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91056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🔍  Search by name, department or ID…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7882127" y="1508760"/>
            <a:ext cx="1280160" cy="5486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2127" y="1572768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48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Showing 12 employees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487168"/>
            <a:ext cx="56235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1208" y="2560320"/>
            <a:ext cx="475488" cy="47548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260604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5420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49"/>
                </a:solidFill>
                <a:latin typeface="Calibri"/>
              </a:rPr>
              <a:t>Mohammed Al-Mansoori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85292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FM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5420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DI-2024-001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2816352"/>
            <a:ext cx="1645920" cy="219456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281635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Active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200400"/>
            <a:ext cx="56235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1208" y="3273552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331927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552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49"/>
                </a:solidFill>
                <a:latin typeface="Calibri"/>
              </a:rPr>
              <a:t>Ahmed Al-Rashid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5661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Hard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2552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DI-2024-002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3529584"/>
            <a:ext cx="1645920" cy="219456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352958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Active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913632"/>
            <a:ext cx="56235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1208" y="3986784"/>
            <a:ext cx="475488" cy="47548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403250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9684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49"/>
                </a:solidFill>
                <a:latin typeface="Calibri"/>
              </a:rPr>
              <a:t>Sara Al-Kaabi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279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Soft 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39684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DI-2024-003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0" y="4242816"/>
            <a:ext cx="1645920" cy="219456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42428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Active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4626864"/>
            <a:ext cx="56235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1208" y="4700016"/>
            <a:ext cx="475488" cy="47548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" y="474573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6817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49"/>
                </a:solidFill>
                <a:latin typeface="Calibri"/>
              </a:rPr>
              <a:t>Khalid Al-Suwaidi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49926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HSE &amp; Safety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46817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DI-2024-004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06240" y="4956048"/>
            <a:ext cx="1645920" cy="219456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0" y="4956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9A84C"/>
                </a:solidFill>
                <a:latin typeface="Calibri"/>
              </a:rPr>
              <a:t>On Leave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340096"/>
            <a:ext cx="56235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21208" y="5413248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8" y="5458968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39495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49"/>
                </a:solidFill>
                <a:latin typeface="Calibri"/>
              </a:rPr>
              <a:t>Fatima Al-Thani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570585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Finance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53949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DI-2024-005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0" y="5669280"/>
            <a:ext cx="1645920" cy="219456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0" y="56692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Active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1480" y="6053328"/>
            <a:ext cx="56235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21208" y="61264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1208" y="617220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6108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49"/>
                </a:solidFill>
                <a:latin typeface="Calibri"/>
              </a:rPr>
              <a:t>Omar Al-Mutawa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" y="64190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IT &amp; Systems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6240" y="61081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DI-2024-006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06240" y="6382512"/>
            <a:ext cx="1645920" cy="219456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40" y="63825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Active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09360" y="2487168"/>
            <a:ext cx="56235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419088" y="2560320"/>
            <a:ext cx="475488" cy="47548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19088" y="260604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95160" y="25420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49"/>
                </a:solidFill>
                <a:latin typeface="Calibri"/>
              </a:rPr>
              <a:t>Layla Binhendi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95160" y="285292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Procurement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04120" y="25420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DI-2024-007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04120" y="2816352"/>
            <a:ext cx="1645920" cy="219456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04120" y="281635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Active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09360" y="3200400"/>
            <a:ext cx="56235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419088" y="3273552"/>
            <a:ext cx="475488" cy="47548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19088" y="331927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95160" y="32552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49"/>
                </a:solidFill>
                <a:latin typeface="Calibri"/>
              </a:rPr>
              <a:t>Rami Aziz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95160" y="35661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Projects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04120" y="32552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DI-2024-008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104120" y="3529584"/>
            <a:ext cx="1645920" cy="219456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104120" y="352958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9A84C"/>
                </a:solidFill>
                <a:latin typeface="Calibri"/>
              </a:rPr>
              <a:t>On Leave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09360" y="3913632"/>
            <a:ext cx="56235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419088" y="3986784"/>
            <a:ext cx="475488" cy="47548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19088" y="4032504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95160" y="396849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49"/>
                </a:solidFill>
                <a:latin typeface="Calibri"/>
              </a:rPr>
              <a:t>Noor Al-Ali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95160" y="42793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Soft Services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04120" y="39684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DI-2024-009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104120" y="4242816"/>
            <a:ext cx="1645920" cy="219456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104120" y="424281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Active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309360" y="4626864"/>
            <a:ext cx="56235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419088" y="4700016"/>
            <a:ext cx="475488" cy="47548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19088" y="4745736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95160" y="46817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49"/>
                </a:solidFill>
                <a:latin typeface="Calibri"/>
              </a:rPr>
              <a:t>Hassan Al-Kawari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95160" y="499262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Hard Services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04120" y="46817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DI-2024-010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104120" y="4956048"/>
            <a:ext cx="1645920" cy="219456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104120" y="49560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Active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309360" y="5340096"/>
            <a:ext cx="56235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419088" y="5413248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19088" y="5458968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95160" y="539495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49"/>
                </a:solidFill>
                <a:latin typeface="Calibri"/>
              </a:rPr>
              <a:t>Dina Al-Ansari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95160" y="570585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Finance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04120" y="53949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DI-2024-011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104120" y="5669280"/>
            <a:ext cx="1645920" cy="219456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104120" y="56692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Active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309360" y="6053328"/>
            <a:ext cx="562356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419088" y="6126480"/>
            <a:ext cx="475488" cy="475488"/>
          </a:xfrm>
          <a:prstGeom prst="ellipse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19088" y="6172200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995160" y="6108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49"/>
                </a:solidFill>
                <a:latin typeface="Calibri"/>
              </a:rPr>
              <a:t>Yousuf Mansoor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95160" y="641908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Operations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104120" y="61081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DI-2024-012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104120" y="6382512"/>
            <a:ext cx="1645920" cy="219456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104120" y="638251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0B981"/>
                </a:solidFill>
                <a:latin typeface="Calibri"/>
              </a:rPr>
              <a:t>Active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PROFILE &amp; COMPANY ABOUT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User Profile &amp; Company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50292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5029200" cy="192024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76272" y="1737360"/>
            <a:ext cx="1371600" cy="13716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1810512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22649"/>
                </a:solidFill>
                <a:latin typeface="Calibri"/>
              </a:rP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2724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Mohammed Al-Mansoori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930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C96A"/>
                </a:solidFill>
                <a:latin typeface="Calibri"/>
              </a:rPr>
              <a:t>💼  Employee  ·  DI-2024-001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13632"/>
            <a:ext cx="1463040" cy="80467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2649"/>
                </a:solidFill>
                <a:latin typeface="Calibri"/>
              </a:rPr>
              <a:t>248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5254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Tasks Done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30552" y="3913632"/>
            <a:ext cx="1463040" cy="804672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30552" y="39319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2649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0552" y="435254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Awards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12463" y="3913632"/>
            <a:ext cx="1463040" cy="804672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12463" y="39319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2649"/>
                </a:solidFill>
                <a:latin typeface="Calibri"/>
              </a:rPr>
              <a:t>1.2y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2463" y="435254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Tenure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28032"/>
            <a:ext cx="47548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86460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22649"/>
                </a:solidFill>
                <a:latin typeface="Calibri"/>
              </a:rPr>
              <a:t>Personal 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8646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57216"/>
            <a:ext cx="47548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19379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22649"/>
                </a:solidFill>
                <a:latin typeface="Calibri"/>
              </a:rPr>
              <a:t>Security &amp; Password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1937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486400"/>
            <a:ext cx="47548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5229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22649"/>
                </a:solidFill>
                <a:latin typeface="Calibri"/>
              </a:rPr>
              <a:t>Employee Details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5229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815584"/>
            <a:ext cx="47548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22649"/>
                </a:solidFill>
                <a:latin typeface="Calibri"/>
              </a:rPr>
              <a:t>Push Notifications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852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0B981"/>
                </a:solidFill>
                <a:latin typeface="Calibri"/>
              </a:rPr>
              <a:t>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144768"/>
            <a:ext cx="47548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18134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22649"/>
                </a:solidFill>
                <a:latin typeface="Calibri"/>
              </a:rPr>
              <a:t>Language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618134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English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0" y="1508760"/>
            <a:ext cx="61722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0" y="16002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COMPANY OVERVIEW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1828800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Darwish Interserve is a 100% Qatari-owned integrated facilities management company delivering world-class services across multiple sectors including aviation, education, government and commercial.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0" y="3950208"/>
            <a:ext cx="2944368" cy="1389888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0" y="40416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3A6B"/>
                </a:solidFill>
                <a:latin typeface="Calibri"/>
              </a:rPr>
              <a:t>VISION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4279392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22649"/>
                </a:solidFill>
                <a:latin typeface="Calibri"/>
              </a:rPr>
              <a:t>To be the leading FM provider in Qatar through excellence and innovation.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96528" y="3950208"/>
            <a:ext cx="2944368" cy="1389888"/>
          </a:xfrm>
          <a:prstGeom prst="roundRect">
            <a:avLst>
              <a:gd name="adj" fmla="val 5000"/>
            </a:avLst>
          </a:prstGeom>
          <a:solidFill>
            <a:srgbClr val="FFF8E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79408" y="40416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MISSION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79408" y="4279392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22649"/>
                </a:solidFill>
                <a:latin typeface="Calibri"/>
              </a:rPr>
              <a:t>To deliver reliable FM services at the highest standards of safety and quality.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0" y="5449824"/>
            <a:ext cx="14630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69280" y="5449824"/>
            <a:ext cx="146304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0" y="55321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Calibri"/>
              </a:rPr>
              <a:t>Integrity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23760" y="5449824"/>
            <a:ext cx="14630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223760" y="5449824"/>
            <a:ext cx="146304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23760" y="55321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Calibri"/>
              </a:rPr>
              <a:t>Excellence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78240" y="5449824"/>
            <a:ext cx="14630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778240" y="5449824"/>
            <a:ext cx="146304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0" y="55321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Calibri"/>
              </a:rPr>
              <a:t>Innovation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332720" y="5449824"/>
            <a:ext cx="14630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332720" y="5449824"/>
            <a:ext cx="14630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32720" y="55321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Teamwork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0" y="6181344"/>
            <a:ext cx="1463040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69280" y="6181344"/>
            <a:ext cx="14630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0" y="62362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Calibri"/>
              </a:rPr>
              <a:t>ISO 9001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23760" y="6181344"/>
            <a:ext cx="1463040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223760" y="6181344"/>
            <a:ext cx="14630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23760" y="62362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ISO 14001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778240" y="6181344"/>
            <a:ext cx="1463040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78240" y="6181344"/>
            <a:ext cx="14630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78240" y="62362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  <a:latin typeface="Calibri"/>
              </a:rPr>
              <a:t>ISO 45001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332720" y="6181344"/>
            <a:ext cx="1463040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332720" y="6181344"/>
            <a:ext cx="146304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332720" y="62362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Calibri"/>
              </a:rPr>
              <a:t>ISO 41001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TECHNOLOGY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Built for Scale, Speed &amp;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370332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37033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63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647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React Native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20824"/>
            <a:ext cx="3383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3429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Cross-platform iOS &amp; Android from a single codebase. Native performance with JavaScript flexibility.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08760"/>
            <a:ext cx="370332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08760"/>
            <a:ext cx="370332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563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7647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Expo ~51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2020824"/>
            <a:ext cx="3383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103120"/>
            <a:ext cx="3429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Managed workflow with OTA updates, push notifications, and deep-link support out of the box.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19" y="1508760"/>
            <a:ext cx="370332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19" y="1508760"/>
            <a:ext cx="37033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563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Navigation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7647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React Navigation v6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2020824"/>
            <a:ext cx="3383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103120"/>
            <a:ext cx="3429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Stack + Bottom-Tab navigation with smooth slide transitions and history management.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931920"/>
            <a:ext cx="370332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931920"/>
            <a:ext cx="370332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986783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87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OTP Authentication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443983"/>
            <a:ext cx="3383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3429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Gmail (6-digit) for guests · SMS (6-digit) for employees · Auto-advance inputs · Countdown resend.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3931920"/>
            <a:ext cx="370332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3931920"/>
            <a:ext cx="370332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3986783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187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CAFM / CMMS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4443983"/>
            <a:ext cx="3383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4526280"/>
            <a:ext cx="3429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Integrated work-order management, asset tracking, and preventive maintenance scheduling.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19" y="3931920"/>
            <a:ext cx="3703320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75319" y="3931920"/>
            <a:ext cx="370332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3986783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187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GitHub Pages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4443983"/>
            <a:ext cx="338328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4526280"/>
            <a:ext cx="3429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Live interactive HTML prototype hosted on GitHub Pages for stakeholder demos and reviews.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KEY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Value Delivered by the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278892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2788920" cy="91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1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3055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Secure Dual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96312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Separate OTP flows for guests (Gmail) and employees (SMS). No password sharing, no unauthorised entry.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6704" y="1508760"/>
            <a:ext cx="278892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1508760"/>
            <a:ext cx="278892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164591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13055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Real-Time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496312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Live project progress bars, active site counts, and employee status updated instantly across the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1508760"/>
            <a:ext cx="278892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1928" y="1508760"/>
            <a:ext cx="278892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64591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🏗️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13055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Org Transparency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496312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Visual org chart from CEO to department heads, with clear reporting lines and team details for every leader.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7151" y="1508760"/>
            <a:ext cx="278892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17151" y="1508760"/>
            <a:ext cx="27889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4311" y="164591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1" y="2130552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Staff Directory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1" y="2496312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Searchable employee list with department, ID, and Active / On Leave status — built for HR and operations teams.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977639"/>
            <a:ext cx="278892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977639"/>
            <a:ext cx="27889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99431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Event Awareness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965192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Featured events, filter by category, RSVP tracking, and real-time notifications keep everyone aligned.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46704" y="3977639"/>
            <a:ext cx="278892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46704" y="3977639"/>
            <a:ext cx="278892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83864" y="4114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83864" y="4599431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Cross-Platform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83864" y="4965192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One React Native codebase runs natively on iOS and Android with identical UX and performance.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1928" y="3977639"/>
            <a:ext cx="278892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81928" y="3977639"/>
            <a:ext cx="278892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4114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4599431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Projects at a Glance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4965192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Project portfolio with progress tracking, site count, workforce and milestone dates — visible to management in seconds.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17151" y="3977639"/>
            <a:ext cx="278892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17151" y="3977639"/>
            <a:ext cx="27889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54311" y="4114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54311" y="4599431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Live Demo Ready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54311" y="4965192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Full interactive HTML prototype hosted on GitHub Pages for instant stakeholder access — no install required.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ACCESS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Guest vs Employee — What Each User Sees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566928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5669280" cy="9601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673352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190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2649"/>
                </a:solidFill>
                <a:latin typeface="Calibri"/>
              </a:rPr>
              <a:t>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627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GUEST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View-Only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2128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Authenticated via Gmail OTP  ·  No account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700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WHAT GUESTS CAN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Company website content — About, Vision, 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47287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47287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Services portfolio (Hard, Soft, Managed)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7705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7705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Public projects gallery &amp; client showcase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0682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0682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Management team org chart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3659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365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Department heads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6635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6635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Published news &amp; company 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96127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96127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Contact information &amp; office locations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2589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02589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ISO certifications &amp; company milestones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1508760"/>
            <a:ext cx="557784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1508760"/>
            <a:ext cx="5577840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92240" y="1673352"/>
            <a:ext cx="640080" cy="64008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171907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2649"/>
                </a:solidFill>
                <a:latin typeface="Calibri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16276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96A"/>
                </a:solidFill>
                <a:latin typeface="Calibri"/>
              </a:rPr>
              <a:t>EMPLOYEE USER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Full Self-Service Portal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2128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  <a:latin typeface="Calibri"/>
              </a:rPr>
              <a:t>Authenticated via Employee ID + SMS OTP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6700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EVERYTHING GUESTS SEE  +  PERSONAL HR PORTAL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0175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017520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Personal profile · Joining date · Designation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447287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3447287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Leave balance · Apply leave · Approval 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38770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3877056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Pay slips — current &amp; historical downloads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30682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306824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Signed offer letter &amp; employment contract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7365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473659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Request salary / employment certificates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516635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5166359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Submit complaints &amp; grievances directly to HR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5596127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5596127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Access HR forms — claims, transfers, training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60258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6025896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Personalised notifications &amp; work updates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EMPLOYEE SELF-SERVICE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HR Portal Features for Employees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3703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3703320" cy="9144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6072" y="1709928"/>
            <a:ext cx="502920" cy="50292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7830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647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Joining &amp; Tenure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2860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View confirmed joining date, probation status, years of service, and upcoming work anniversaries.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08760"/>
            <a:ext cx="3703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08760"/>
            <a:ext cx="37033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07992" y="1709928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7830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7647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Leave 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2860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Live balance: Annual · Sick · Casual · Emergency. View entitlement, used, pending and remaining days.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19" y="1508760"/>
            <a:ext cx="3703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19" y="1508760"/>
            <a:ext cx="3703320" cy="914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39911" y="1709928"/>
            <a:ext cx="502920" cy="50292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1" y="17830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59" y="17647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Digital Pay Slips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2860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Download current and historical pay slips as PDF. Breakdown of basic, allowances, deductions &amp; net pay.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200400"/>
            <a:ext cx="3703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200400"/>
            <a:ext cx="37033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6072" y="3401568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34747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4564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Offer Letter &amp; Contract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3977639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Securely view your signed offer letter, employment contract, and any amendments — all in one place.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3200400"/>
            <a:ext cx="3703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3200400"/>
            <a:ext cx="370332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07992" y="3401568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07992" y="34747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4564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Salary Certificate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3977639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Request salary / employment certificates for visa, bank loans, or rental — issued digitally by HR.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19" y="3200400"/>
            <a:ext cx="3703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75319" y="3200400"/>
            <a:ext cx="370332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439911" y="3401568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9911" y="34747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59" y="34564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Complaints &amp; Grievances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9911" y="3977639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Submit confidential complaints to HR with categories, attach evidence, and track resolution status.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4892040"/>
            <a:ext cx="3703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1480" y="4892040"/>
            <a:ext cx="3703320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6072" y="5093207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516635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5148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HR Forms Library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" y="5669279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Access all official forms: leave, reimbursement, training, transfer requests, family addition, NOC, and more.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43400" y="4892040"/>
            <a:ext cx="3703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43400" y="4892040"/>
            <a:ext cx="37033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07992" y="5093207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07992" y="516635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40" y="5148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Leave History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07992" y="5669279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Full audit trail of past leaves — dates, type, approval chain, and remarks. Filter by year or category.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75319" y="4892040"/>
            <a:ext cx="370332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75319" y="4892040"/>
            <a:ext cx="3703320" cy="91440"/>
          </a:xfrm>
          <a:prstGeom prst="rect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39911" y="5093207"/>
            <a:ext cx="502920" cy="502920"/>
          </a:xfrm>
          <a:prstGeom prst="ellipse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39911" y="516635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59" y="514807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HR Notifications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9911" y="5669279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Push alerts for approvals, payslip availability, policy updates, and HR announcements.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LEAVE APPROVAL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From Request to Approval — End-to-End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3383280" cy="5074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3383280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910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96A"/>
                </a:solidFill>
                <a:latin typeface="Calibri"/>
              </a:rPr>
              <a:t>MY LEAVE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Annual Leave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95727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12 days remaining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715768"/>
            <a:ext cx="3108960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715768"/>
            <a:ext cx="1865376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07791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Used 18 of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00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Sick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10 days remaining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794760"/>
            <a:ext cx="3108960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794760"/>
            <a:ext cx="888274" cy="1645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8678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Used 4 of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793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Casual Leave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5537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5 days remaining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873752"/>
            <a:ext cx="3108960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873752"/>
            <a:ext cx="888274" cy="1645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06577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Used 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58383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49"/>
                </a:solidFill>
                <a:latin typeface="Calibri"/>
              </a:rPr>
              <a:t>Emergency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632703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2 days remaining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952744"/>
            <a:ext cx="3108960" cy="16459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4360" y="5952744"/>
            <a:ext cx="1036320" cy="1645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1447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Used 1 of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126480"/>
            <a:ext cx="3017520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616305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649"/>
                </a:solidFill>
                <a:latin typeface="Calibri"/>
              </a:rPr>
              <a:t>+ Apply for Leave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77639" y="1508760"/>
            <a:ext cx="786384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069080" y="1673351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9080" y="1764792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Calibri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1581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Employee Submits Request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1929384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Choose leave type, date range, attach reason. App auto-calculates days deducted and warns of overlapping balance.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69880" y="1801368"/>
            <a:ext cx="128016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69880" y="18196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Submitted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2414015"/>
            <a:ext cx="91440" cy="1280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977639" y="2542032"/>
            <a:ext cx="786384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069080" y="2706624"/>
            <a:ext cx="566928" cy="566928"/>
          </a:xfrm>
          <a:prstGeom prst="ellipse">
            <a:avLst/>
          </a:prstGeom>
          <a:solidFill>
            <a:srgbClr val="2A52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69080" y="2798063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Calibri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26151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Direct Manager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2962656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Real-time push notification to line manager. Manager approves, rejects, or requests clarification — all in-app.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69880" y="2834639"/>
            <a:ext cx="128016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69880" y="2852927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Approved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3447287"/>
            <a:ext cx="91440" cy="1280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977639" y="3575303"/>
            <a:ext cx="786384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069080" y="3739896"/>
            <a:ext cx="566928" cy="56692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69080" y="3831335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Calibri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36484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Department Head Approval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399592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For leaves &gt; 5 days, escalated to Department Head with full team-coverage context shown.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469880" y="3867911"/>
            <a:ext cx="1280160" cy="31089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69880" y="38862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Approved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4480559"/>
            <a:ext cx="91440" cy="1280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977639" y="4608575"/>
            <a:ext cx="786384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069080" y="4773167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69080" y="4864607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Calibri"/>
              </a:rPr>
              <a:t>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68172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HR Final Sign-Off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0" y="502919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HR validates balance, updates leave records, and triggers calendar block. Confirmation sent to employee.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469880" y="4901183"/>
            <a:ext cx="1280160" cy="310896"/>
          </a:xfrm>
          <a:prstGeom prst="round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469880" y="4919471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97680" y="5513831"/>
            <a:ext cx="91440" cy="1280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977639" y="5641848"/>
            <a:ext cx="786384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069080" y="5806440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69080" y="5897880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Calibri"/>
              </a:rPr>
              <a:t>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54880" y="5715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49"/>
                </a:solidFill>
                <a:latin typeface="Calibri"/>
              </a:rPr>
              <a:t>Status &amp; Audit Trail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54880" y="606247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Employee sees live status: Pending to Approved to Confirmed. Full audit trail preserved for compliance.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469880" y="5934456"/>
            <a:ext cx="1280160" cy="310896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469880" y="595274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7280"/>
                </a:solidFill>
                <a:latin typeface="Calibri"/>
              </a:rPr>
              <a:t>Awaiting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1097280"/>
            <a:ext cx="4572000" cy="4572000"/>
          </a:xfrm>
          <a:prstGeom prst="ellipse">
            <a:avLst/>
          </a:prstGeom>
          <a:solidFill>
            <a:srgbClr val="224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029200"/>
            <a:ext cx="2743200" cy="274320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772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78992"/>
            <a:ext cx="1645920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704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Roadmap &amp; Call to 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65960"/>
            <a:ext cx="1325880" cy="868680"/>
          </a:xfrm>
          <a:prstGeom prst="rect">
            <a:avLst/>
          </a:prstGeom>
          <a:solidFill>
            <a:srgbClr val="1F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10312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Calibri"/>
              </a:rPr>
              <a:t>Q2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2331720"/>
            <a:ext cx="1828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0" y="2359152"/>
            <a:ext cx="2286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202082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Stakeholder Review &amp; Sign-off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36829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Present live demo to all department heads. Gather feedback and document change requests.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017520"/>
            <a:ext cx="1325880" cy="868680"/>
          </a:xfrm>
          <a:prstGeom prst="rect">
            <a:avLst/>
          </a:prstGeom>
          <a:solidFill>
            <a:srgbClr val="1F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154679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Calibri"/>
              </a:rPr>
              <a:t>Q3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83080" y="3383279"/>
            <a:ext cx="1828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3410712"/>
            <a:ext cx="2286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307238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Backend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41985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Connect app to CAFM/CMMS APIs. Enable live work-order creation, push notifications, and data sync.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069079"/>
            <a:ext cx="1325880" cy="868680"/>
          </a:xfrm>
          <a:prstGeom prst="rect">
            <a:avLst/>
          </a:prstGeom>
          <a:solidFill>
            <a:srgbClr val="1F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20624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Calibri"/>
              </a:rPr>
              <a:t>Q3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83080" y="4434840"/>
            <a:ext cx="1828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0" y="4462271"/>
            <a:ext cx="2286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4123943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UAT &amp; Employee Onboarding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47141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Pilot with 50 employees. Collect usability metrics, conduct training sessions, refine UX.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120640"/>
            <a:ext cx="1325880" cy="868680"/>
          </a:xfrm>
          <a:prstGeom prst="rect">
            <a:avLst/>
          </a:prstGeom>
          <a:solidFill>
            <a:srgbClr val="1F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257800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Calibri"/>
              </a:rPr>
              <a:t>Q4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5486400"/>
            <a:ext cx="18288" cy="1097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0" y="5513831"/>
            <a:ext cx="22860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5175503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Full Production Launch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552297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Go-live for all 3,500+ staff. App Store (iOS) and Google Play (Android) submission.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760720"/>
            <a:ext cx="5303520" cy="548640"/>
          </a:xfrm>
          <a:prstGeom prst="rect">
            <a:avLst/>
          </a:prstGeom>
          <a:solidFill>
            <a:srgbClr val="1F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77900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C96A"/>
                </a:solidFill>
                <a:latin typeface="Calibri"/>
              </a:rPr>
              <a:t>🌐  Live Demo Available Now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5760720"/>
            <a:ext cx="5760720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5788152"/>
            <a:ext cx="5577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22649"/>
                </a:solidFill>
                <a:latin typeface="Calibri"/>
              </a:rPr>
              <a:t>mebikramshah-design.github.io/Mobille-App-Final-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51206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555955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  <a:latin typeface="Calibri"/>
              </a:rPr>
              <a:t>Darwish Interserve Facility Management  ·  Qatar  ·  2026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677"/>
                </a:solidFill>
                <a:latin typeface="Calibri"/>
              </a:rPr>
              <a:t>CONFIDENTIAL — FOR MANAGEMENT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