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22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5029200"/>
            <a:ext cx="3200400" cy="320040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22649"/>
                </a:solidFill>
                <a:latin typeface="Calibri"/>
              </a:rPr>
              <a:t>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0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20700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57276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C96A"/>
                </a:solidFill>
                <a:latin typeface="Calibri"/>
              </a:rPr>
              <a:t>INTERSERVE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7451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Facility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23160"/>
            <a:ext cx="2011680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3347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Mobile 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C96A"/>
                </a:solidFill>
                <a:latin typeface="Calibri"/>
              </a:rPr>
              <a:t>Executive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Calibri"/>
              </a:rPr>
              <a:t>Integrated Facility Management Platform  ·  React Native (Expo)  ·  Qatar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029200"/>
            <a:ext cx="2514600" cy="100584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  <a:latin typeface="Calibri"/>
              </a:rPr>
              <a:t>3,500+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5955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DEE"/>
                </a:solidFill>
                <a:latin typeface="Calibri"/>
              </a:rPr>
              <a:t>Employees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5029200"/>
            <a:ext cx="2514600" cy="100584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50749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  <a:latin typeface="Calibri"/>
              </a:rPr>
              <a:t>100+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955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DEE"/>
                </a:solidFill>
                <a:latin typeface="Calibri"/>
              </a:rPr>
              <a:t>Active Projects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029200"/>
            <a:ext cx="2514600" cy="100584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50749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  <a:latin typeface="Calibri"/>
              </a:rPr>
              <a:t>14+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55955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DEE"/>
                </a:solidFill>
                <a:latin typeface="Calibri"/>
              </a:rPr>
              <a:t>Years in Qatar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029200"/>
            <a:ext cx="2514600" cy="100584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0749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  <a:latin typeface="Calibri"/>
              </a:rPr>
              <a:t>235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55955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DEE"/>
                </a:solidFill>
                <a:latin typeface="Calibri"/>
              </a:rPr>
              <a:t>Active Sites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99AA"/>
                </a:solidFill>
                <a:latin typeface="Calibri"/>
              </a:rPr>
              <a:t>CONFIDENTIAL — FOR MANAGEMENT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We'll Cover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64792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Company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208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Who we are, our vision, mission &amp; certifications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32888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532888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697480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59689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App Purpose &amp; User Journey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Guest &amp; Employee authentication flows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465576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465576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63016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52958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Home Dashboard &amp; Sub-Tabs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886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Website · Management Team · Heads · Employees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98264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398264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562856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6227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Services Portfolio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8188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Hard, Soft &amp; Managed FM services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330952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330952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495544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3949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Projects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7515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Active engagements across sectors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1600200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1600200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1764792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16642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News &amp; Events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20208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Internal communications platform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2532888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55080" y="2532888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2697480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259689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Leadership Hierarchy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Org chart from CEO to Department Heads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3465576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3465576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363016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52958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Employee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3886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Searchable staff directory with status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55080" y="4398264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55080" y="4398264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4562856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03720" y="446227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Profile &amp; Company About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48188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Vision, Mission, Values, ISO certs, Contact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5330952"/>
            <a:ext cx="557784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55080" y="5330952"/>
            <a:ext cx="475488" cy="8046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5495544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53949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Technology &amp; Next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03720" y="57515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Tech stack, roadmap &amp; call to 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COMPANY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We 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539496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WHO WE 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22649"/>
                </a:solidFill>
                <a:latin typeface="Calibri"/>
              </a:rPr>
              <a:t>A 100% Qatari-Owned Integrated FM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Darwish Interserve Facility Management (DIFM) is a joint venture between Darwish Holdings and Interserve, delivering world-class integrated facility management services across Qatar since 2010. We serve government, aviation, education, and commercial sectors.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520440"/>
            <a:ext cx="2587752" cy="15087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58768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22649"/>
                </a:solidFill>
                <a:latin typeface="Calibri"/>
              </a:rPr>
              <a:t>To be the leading FM provider in Qatar, delivering excellence through innovation, quality, and customer satisfaction.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3520440"/>
            <a:ext cx="2587752" cy="1508760"/>
          </a:xfrm>
          <a:prstGeom prst="roundRect">
            <a:avLst>
              <a:gd name="adj" fmla="val 5000"/>
            </a:avLst>
          </a:prstGeom>
          <a:solidFill>
            <a:srgbClr val="FFF8E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858768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22649"/>
                </a:solidFill>
                <a:latin typeface="Calibri"/>
              </a:rPr>
              <a:t>To provide reliable and efficient FM services while maintaining the highest standards of safety, quality, and sustainability.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508760"/>
            <a:ext cx="269748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508760"/>
            <a:ext cx="269748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764792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B82F6"/>
                </a:solidFill>
                <a:latin typeface="Calibri"/>
              </a:rPr>
              <a:t>3,500+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4048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Skilled Employees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508760"/>
            <a:ext cx="269748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1508760"/>
            <a:ext cx="2697480" cy="1645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764792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Calibri"/>
              </a:rPr>
              <a:t>100+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4048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Active Projects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37560"/>
            <a:ext cx="269748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337560"/>
            <a:ext cx="2697480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3593591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0B981"/>
                </a:solidFill>
                <a:latin typeface="Calibri"/>
              </a:rPr>
              <a:t>14+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336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Years of Excellence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0" y="3337560"/>
            <a:ext cx="269748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52560" y="3337560"/>
            <a:ext cx="2697480" cy="164592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0" y="3593591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A5298"/>
                </a:solidFill>
                <a:latin typeface="Calibri"/>
              </a:rPr>
              <a:t>235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423367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Active Sites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5212080"/>
            <a:ext cx="27432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5212080"/>
            <a:ext cx="2743200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35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B82F6"/>
                </a:solidFill>
                <a:latin typeface="Calibri"/>
              </a:rPr>
              <a:t>ISO 9001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563270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Quality Mgmt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5848" y="5212080"/>
            <a:ext cx="27432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55848" y="5212080"/>
            <a:ext cx="274320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55848" y="53035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B981"/>
                </a:solidFill>
                <a:latin typeface="Calibri"/>
              </a:rPr>
              <a:t>ISO 14001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5848" y="563270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Environment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0216" y="5212080"/>
            <a:ext cx="27432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0216" y="5212080"/>
            <a:ext cx="2743200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0216" y="53035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F4444"/>
                </a:solidFill>
                <a:latin typeface="Calibri"/>
              </a:rPr>
              <a:t>ISO 45001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216" y="563270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H&amp;S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44584" y="5212080"/>
            <a:ext cx="27432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44584" y="5212080"/>
            <a:ext cx="274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4584" y="53035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7C3AED"/>
                </a:solidFill>
                <a:latin typeface="Calibri"/>
              </a:rPr>
              <a:t>ISO 41001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563270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FM Standards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APP OVERVIEW &amp;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Dual-Access Authentication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502920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22649"/>
                </a:solidFill>
                <a:latin typeface="Calibri"/>
              </a:rPr>
              <a:t>What the App Solves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76272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single, secure mobile gateway for both internal employees and external guests to access facility management information, project updates, events, and staff directories.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00400"/>
            <a:ext cx="5029200" cy="1298448"/>
          </a:xfrm>
          <a:prstGeom prst="roundRect">
            <a:avLst>
              <a:gd name="adj" fmla="val 5000"/>
            </a:avLst>
          </a:prstGeom>
          <a:solidFill>
            <a:srgbClr val="FFF8E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3101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22649"/>
                </a:solidFill>
                <a:latin typeface="Calibri"/>
              </a:rPr>
              <a:t>👤  Guest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57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Gmail OTP · No account required · View-only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709160"/>
            <a:ext cx="5029200" cy="1298448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188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22649"/>
                </a:solidFill>
                <a:latin typeface="Calibri"/>
              </a:rPr>
              <a:t>🏢  Employee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663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SMS OTP · Full dashboard · Work orders · Profile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0" y="1481328"/>
            <a:ext cx="61722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481328"/>
            <a:ext cx="475488" cy="8961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682496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5361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Welcome 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8366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Brand landing with Guest &amp; Employee entry 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16168" y="2395728"/>
            <a:ext cx="64008" cy="1188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15000" y="2514600"/>
            <a:ext cx="61722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5000" y="2514600"/>
            <a:ext cx="475488" cy="896112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71576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569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Authentication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9169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Enter credentials · OTP verification (Gmail / SMS)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16168" y="3429000"/>
            <a:ext cx="64008" cy="1188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15000" y="3547872"/>
            <a:ext cx="61722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15000" y="3547872"/>
            <a:ext cx="475488" cy="8961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3749039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6027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OTP Verification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95020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6-digit code · Auto-advance · Countdown resend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16168" y="4462272"/>
            <a:ext cx="64008" cy="1188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15000" y="4581144"/>
            <a:ext cx="61722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15000" y="4581144"/>
            <a:ext cx="475488" cy="8961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15000" y="4782312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3600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Main 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834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Home · Events · Projects · Profile tabs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16168" y="5495544"/>
            <a:ext cx="64008" cy="1188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15000" y="5614416"/>
            <a:ext cx="61722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5000" y="5614416"/>
            <a:ext cx="475488" cy="8961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5000" y="5815583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566927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Content &amp; Actions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60167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Sub-tabs · Search · Project detail · Notifications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HOME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4 Interactive Sub-Tabs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274320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Website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103120"/>
            <a:ext cx="274320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59152"/>
            <a:ext cx="64008" cy="640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24028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Company hero &amp; welcome banner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017520"/>
            <a:ext cx="64008" cy="640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898648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About Us — DIFM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675888"/>
            <a:ext cx="64008" cy="640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557016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Our Services (Hard, Soft, Managed)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334256"/>
            <a:ext cx="64008" cy="640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15384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By The Numbers stats grid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992624"/>
            <a:ext cx="64008" cy="640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873752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Client logos (HIA, QU, Katara…)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650992"/>
            <a:ext cx="64008" cy="640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53212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CTA: Explore Projects · Contact 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46704" y="1508760"/>
            <a:ext cx="2743200" cy="594360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6704" y="15361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9624" y="15544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Management 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46704" y="2103120"/>
            <a:ext cx="274320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29584" y="2359152"/>
            <a:ext cx="64008" cy="64008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94176" y="224028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Visual org-chart hierarchy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9584" y="3017520"/>
            <a:ext cx="64008" cy="64008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4176" y="2898648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CEO at the apex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29584" y="3675888"/>
            <a:ext cx="64008" cy="64008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94176" y="3557016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COO → HR Director &amp; Ops Director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9584" y="4334256"/>
            <a:ext cx="64008" cy="64008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4176" y="4215384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CFO  ·  CTO direct reports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29584" y="4992624"/>
            <a:ext cx="64008" cy="64008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4176" y="4873752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Colour-coded reporting lines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29584" y="5650992"/>
            <a:ext cx="64008" cy="64008"/>
          </a:xfrm>
          <a:prstGeom prst="rect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94176" y="553212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Role badges on each card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81928" y="1508760"/>
            <a:ext cx="2743200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1928" y="15361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15544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Management Heads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81928" y="2103120"/>
            <a:ext cx="274320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64808" y="2359152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224028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8 department head detail cards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64808" y="3017520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2898648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Reporting line clearly shown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64808" y="3675888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29400" y="3557016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Team size &amp; active site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64808" y="4334256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4215384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Key responsibilities per head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992624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29400" y="4873752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Ordered by reporting structure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64808" y="5650992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9400" y="553212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Colour-coded by department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17151" y="1508760"/>
            <a:ext cx="2743200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17151" y="15361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20072" y="15544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Employee List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17151" y="2103120"/>
            <a:ext cx="274320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400031" y="2359152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64624" y="224028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Searchable directory of all staff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00031" y="301752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64624" y="2898648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Real-time filter by name / dept / ID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00031" y="3675888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64624" y="3557016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Employee ID (DI-2024-XXX) shown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00031" y="4334256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64624" y="4215384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Active / On Leave status badges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400031" y="4992624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64624" y="4873752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Department grouping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00031" y="5650992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64624" y="5532120"/>
            <a:ext cx="2267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Live count updates on search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SERVICES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Integrated Facility Management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370332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Hard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" y="2075688"/>
            <a:ext cx="5486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984248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Mechanical &amp; Electrical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" y="2414016"/>
            <a:ext cx="5486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32257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HVAC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" y="2752344"/>
            <a:ext cx="5486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2660904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Civil &amp; Structural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3090672"/>
            <a:ext cx="5486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2999232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Plumbing &amp; Fire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" y="3429000"/>
            <a:ext cx="54864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337560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Preventive Maintenance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150876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1508760"/>
            <a:ext cx="37033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15636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Soft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7992" y="2075688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54296" y="1984248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Cleaning &amp; Housekeeping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2" y="2414016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54296" y="232257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Landscaping &amp; Horticulture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2752344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54296" y="2660904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Pest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7992" y="3090672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4296" y="2999232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Security &amp; Guarding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7992" y="3429000"/>
            <a:ext cx="5486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54296" y="3337560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Support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19" y="150876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19" y="1508760"/>
            <a:ext cx="370332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15636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Managed Services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9911" y="2075688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6215" y="1984248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Energy Management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9911" y="2414016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86215" y="232257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CAFM / CMMS Platform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39911" y="2752344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86215" y="2660904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Compliance &amp; Auditing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39911" y="3090672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86215" y="2999232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Consulting &amp; Advisory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39911" y="3429000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6215" y="3337560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International Standards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402336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4023360"/>
            <a:ext cx="3703320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MEP 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072" y="4590288"/>
            <a:ext cx="54864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6" y="4498848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Mechanical Systems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" y="4928616"/>
            <a:ext cx="54864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483717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Electrical Infrastructure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72" y="5266944"/>
            <a:ext cx="54864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2376" y="5175504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Plumbing Networks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72" y="5605272"/>
            <a:ext cx="54864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2376" y="5513831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BMS Integration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6072" y="5943600"/>
            <a:ext cx="54864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2376" y="5852160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Asset Management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43400" y="402336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43400" y="4023360"/>
            <a:ext cx="370332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8056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Cleaning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07992" y="4590288"/>
            <a:ext cx="54864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54296" y="4498848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Daily Housekeeping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07992" y="4928616"/>
            <a:ext cx="54864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54296" y="483717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Deep Cleaning Cycles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07992" y="5266944"/>
            <a:ext cx="54864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4296" y="5175504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Specialised Cleaning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07992" y="5605272"/>
            <a:ext cx="54864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54296" y="5513831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Waste Management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07992" y="5943600"/>
            <a:ext cx="54864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54296" y="5852160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Hygiene Compliance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275319" y="402336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75319" y="4023360"/>
            <a:ext cx="370332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8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39911" y="4590288"/>
            <a:ext cx="5486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86215" y="4498848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Access Control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39911" y="4928616"/>
            <a:ext cx="5486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86215" y="4837176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CCTV &amp; Monitoring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9911" y="5266944"/>
            <a:ext cx="5486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86215" y="5175504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Manned Guarding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39911" y="5605272"/>
            <a:ext cx="5486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86215" y="5513831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Incident Response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39911" y="5943600"/>
            <a:ext cx="5486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86215" y="5852160"/>
            <a:ext cx="3246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Emergency Protocols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PROJECTS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Active Engagements Across Sectors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81328"/>
            <a:ext cx="2743200" cy="1097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727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B3A6B"/>
                </a:solidFill>
                <a:latin typeface="Calibri"/>
              </a:rPr>
              <a:t>100+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Active Projects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481328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481328"/>
            <a:ext cx="2743200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6704" y="15727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B82F6"/>
                </a:solidFill>
                <a:latin typeface="Calibri"/>
              </a:rPr>
              <a:t>235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Total Sites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1481328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481328"/>
            <a:ext cx="274320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15727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3,500+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Workforce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1" y="1481328"/>
            <a:ext cx="27432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17151" y="1481328"/>
            <a:ext cx="2743200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1" y="15727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9A84C"/>
                </a:solidFill>
                <a:latin typeface="Calibri"/>
              </a:rPr>
              <a:t>14+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1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Years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651760"/>
            <a:ext cx="3703320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65176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6791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2715768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Integrated FM — Education Sector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CLIENT: Qatar Public Schools · MoE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474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215 sites · 1,200+ staff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4903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Qatar's largest FM contract covering schools nationwide with full soft and hard services, preventive maintenance, and compliance.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45152"/>
            <a:ext cx="3383280" cy="1280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645152"/>
            <a:ext cx="3112617" cy="12801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Progress  92%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011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View in App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2651760"/>
            <a:ext cx="3703320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2651760"/>
            <a:ext cx="370332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26791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10328" y="2715768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Aviation Facility Maintenance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CLIENT: Hamad International Airport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3474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12 sites · 240 staff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374903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Specialised HVAC, MEP, and fire-safety systems maintenance for one of the world's top-rated international airports.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4645152"/>
            <a:ext cx="3383280" cy="1280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4645152"/>
            <a:ext cx="2638958" cy="1280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60" y="4480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Progress  78%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49011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View in App 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5319" y="2651760"/>
            <a:ext cx="3703320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75319" y="2651760"/>
            <a:ext cx="370332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26791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7" y="2715768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Commercial Property Management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CLIENT: Corporate Clients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474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8 sites · 95 staff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74903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End-to-end facility management ensuring operational efficiency and tenant satisfaction across premium commercial properties.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645152"/>
            <a:ext cx="3383280" cy="1280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12480" y="4645152"/>
            <a:ext cx="1184148" cy="1280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4480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Progress  35%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9011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View in App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NEWS &amp;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Internal Communications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6858000" cy="2926080"/>
          </a:xfrm>
          <a:prstGeom prst="roundRect">
            <a:avLst>
              <a:gd name="adj" fmla="val 5000"/>
            </a:avLst>
          </a:prstGeom>
          <a:solidFill>
            <a:srgbClr val="1B3A6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276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★  FEATURED EVENT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38528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Mandatory HSE Safety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328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C96A"/>
                </a:solidFill>
                <a:latin typeface="Calibri"/>
              </a:rPr>
              <a:t>📅  May 10, 2026  ·  09:00 – 12:00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346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C96A"/>
                </a:solidFill>
                <a:latin typeface="Calibri"/>
              </a:rPr>
              <a:t>📍  Main Office, Doha  ·  +142 attending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8211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DEE"/>
                </a:solidFill>
                <a:latin typeface="Calibri"/>
              </a:rPr>
              <a:t>Mandatory attendance for all site supervisors and HSE officers. Covers updated Qatar Civil Defence requirements and incident response protocols.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977639"/>
            <a:ext cx="6492240" cy="9144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0416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RSVP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645152"/>
            <a:ext cx="12618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663440"/>
            <a:ext cx="1261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10512" y="4645152"/>
            <a:ext cx="12618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10512" y="4663440"/>
            <a:ext cx="1261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Training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9544" y="4645152"/>
            <a:ext cx="12618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4663440"/>
            <a:ext cx="1261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HSE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8576" y="4645152"/>
            <a:ext cx="12618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4663440"/>
            <a:ext cx="1261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Company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07608" y="4645152"/>
            <a:ext cx="12618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07608" y="4663440"/>
            <a:ext cx="1261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Holidays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1508759"/>
            <a:ext cx="4187952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11480" y="3227832"/>
            <a:ext cx="4187952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1480" y="4946904"/>
            <a:ext cx="4187952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43800" y="1508760"/>
            <a:ext cx="434340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43800" y="1508760"/>
            <a:ext cx="685800" cy="1508760"/>
          </a:xfrm>
          <a:prstGeom prst="rect">
            <a:avLst/>
          </a:prstGeom>
          <a:solidFill>
            <a:srgbClr val="D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1764792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148839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Calibri"/>
              </a:rPr>
              <a:t>MAY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71231" y="1618488"/>
            <a:ext cx="621792" cy="73152"/>
          </a:xfrm>
          <a:prstGeom prst="rect">
            <a:avLst/>
          </a:prstGeom>
          <a:solidFill>
            <a:srgbClr val="C8D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1600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● Training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187451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New Work Order System Walkthrough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286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14:00–15:30  ·  Online – MS Teams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3246120"/>
            <a:ext cx="434340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43800" y="3246120"/>
            <a:ext cx="685800" cy="1508760"/>
          </a:xfrm>
          <a:prstGeom prst="rect">
            <a:avLst/>
          </a:prstGeom>
          <a:solidFill>
            <a:srgbClr val="D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502152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C3AED"/>
                </a:solidFill>
                <a:latin typeface="Calibri"/>
              </a:rP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388620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C3AED"/>
                </a:solidFill>
                <a:latin typeface="Calibri"/>
              </a:rPr>
              <a:t>MAY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71231" y="3355848"/>
            <a:ext cx="621792" cy="73152"/>
          </a:xfrm>
          <a:prstGeom prst="rect">
            <a:avLst/>
          </a:prstGeom>
          <a:solidFill>
            <a:srgbClr val="C8D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3337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● Company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6118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Q2 Town Hall Meeting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0233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10:00–11:30  ·  DIFM Auditorium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43800" y="4983479"/>
            <a:ext cx="434340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43800" y="4983479"/>
            <a:ext cx="685800" cy="1508760"/>
          </a:xfrm>
          <a:prstGeom prst="rect">
            <a:avLst/>
          </a:prstGeom>
          <a:solidFill>
            <a:srgbClr val="D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5239512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5623559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Calibri"/>
              </a:rPr>
              <a:t>MAY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71231" y="5093207"/>
            <a:ext cx="621792" cy="73152"/>
          </a:xfrm>
          <a:prstGeom prst="rect">
            <a:avLst/>
          </a:prstGeom>
          <a:solidFill>
            <a:srgbClr val="C8D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1040" y="50749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● Holiday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3492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Eid Al-Adha Holiday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7607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All Day  ·  Company-wide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5138928"/>
            <a:ext cx="21488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5138928"/>
            <a:ext cx="214884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212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  <a:latin typeface="Calibri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Upcoming Events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0" y="5138928"/>
            <a:ext cx="21488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0" y="5138928"/>
            <a:ext cx="21488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0" y="5212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B82F6"/>
                </a:solidFill>
                <a:latin typeface="Calibr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0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New This Week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74920" y="5138928"/>
            <a:ext cx="21488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74920" y="5138928"/>
            <a:ext cx="214884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74920" y="5212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142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4920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RSVPs Confirmed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LEADERSHIP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Organisational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81328"/>
            <a:ext cx="3200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0" y="1481328"/>
            <a:ext cx="3200400" cy="914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90288" y="1664208"/>
            <a:ext cx="548640" cy="54864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3736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1591056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Khalid Al-Darwish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938528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Chief Executive Officer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175564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1755648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B3A6B"/>
                </a:solidFill>
                <a:latin typeface="Calibri"/>
              </a:rPr>
              <a:t>CEO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2441448"/>
            <a:ext cx="22860" cy="38404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0" y="2825496"/>
            <a:ext cx="850392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14600" y="2825496"/>
            <a:ext cx="22860" cy="32004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1480" y="3145536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45536"/>
            <a:ext cx="420624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208" y="332841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" y="340156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255264"/>
            <a:ext cx="3310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James Richardson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3602736"/>
            <a:ext cx="3310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Chief Operating Officer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59352" y="341985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9352" y="34198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F46"/>
                </a:solidFill>
                <a:latin typeface="Calibri"/>
              </a:rPr>
              <a:t>COO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71616" y="2825496"/>
            <a:ext cx="22860" cy="32004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80560" y="3145536"/>
            <a:ext cx="3200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3145536"/>
            <a:ext cx="320040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90288" y="3328416"/>
            <a:ext cx="548640" cy="54864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40156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0368" y="3255264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Ahmed Hassan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602736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Chief Financial Officer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22592" y="341985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34198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2400E"/>
                </a:solidFill>
                <a:latin typeface="Calibri"/>
              </a:rPr>
              <a:t>CFO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49256" y="2825496"/>
            <a:ext cx="22860" cy="32004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95360" y="3145536"/>
            <a:ext cx="3200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95360" y="3145536"/>
            <a:ext cx="320040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05088" y="332841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05088" y="340156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MQ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255264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Mohammed Al-Qahtani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5168" y="3602736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137392" y="341985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37392" y="34198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1D95"/>
                </a:solidFill>
                <a:latin typeface="Calibri"/>
              </a:rPr>
              <a:t>CTO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105656"/>
            <a:ext cx="22860" cy="329184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5800" y="4434840"/>
            <a:ext cx="356616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" y="4434840"/>
            <a:ext cx="22860" cy="2926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51960" y="4434840"/>
            <a:ext cx="22860" cy="2926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1480" y="4727448"/>
            <a:ext cx="3657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727448"/>
            <a:ext cx="3657600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21208" y="4910328"/>
            <a:ext cx="548640" cy="548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498348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1288" y="4837176"/>
            <a:ext cx="2761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Sara Al-Mansoori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1288" y="5184648"/>
            <a:ext cx="2761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 Director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10712" y="50017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10712" y="5001768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D174D"/>
                </a:solidFill>
                <a:latin typeface="Calibri"/>
              </a:rPr>
              <a:t>HR Dir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51960" y="4727448"/>
            <a:ext cx="3657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51960" y="4727448"/>
            <a:ext cx="3657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361688" y="4910328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61688" y="498348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01768" y="4837176"/>
            <a:ext cx="2761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David Thompson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01768" y="5184648"/>
            <a:ext cx="2761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Operations Director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51192" y="50017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51192" y="5001768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40AF"/>
                </a:solidFill>
                <a:latin typeface="Calibri"/>
              </a:rPr>
              <a:t>Ops Dir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71616" y="4105656"/>
            <a:ext cx="22860" cy="329184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0560" y="4434840"/>
            <a:ext cx="320040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049256" y="4105656"/>
            <a:ext cx="22860" cy="62179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595360" y="4727448"/>
            <a:ext cx="32004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95360" y="4727448"/>
            <a:ext cx="320040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05088" y="491032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05088" y="498348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5168" y="4837176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Omar Siddiqui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45168" y="5184648"/>
            <a:ext cx="2304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Head of IT &amp; Systems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137392" y="50017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137392" y="5001768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1D95"/>
                </a:solidFill>
                <a:latin typeface="Calibri"/>
              </a:rPr>
              <a:t>IT Head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63440" y="4434840"/>
            <a:ext cx="22860" cy="2926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98079" y="4434840"/>
            <a:ext cx="22860" cy="2926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480560" y="4727448"/>
            <a:ext cx="283464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0560" y="4727448"/>
            <a:ext cx="283464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590288" y="4910328"/>
            <a:ext cx="548640" cy="54864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90288" y="498348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30368" y="4837176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Rania Mahmoud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30368" y="5184648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Head of Finance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656832" y="50017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56832" y="5001768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2400E"/>
                </a:solidFill>
                <a:latin typeface="Calibri"/>
              </a:rPr>
              <a:t>Finance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MANAGEMENT HEADS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Department Heads &amp; Team Details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2788920" cy="914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691639"/>
            <a:ext cx="594360" cy="59436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7335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Ibrahim Al-Khalidi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Hard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79191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COO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3522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900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320 staff · 45+ 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644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MEP · Civil · HVAC · PM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4" y="1508760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6704" y="1508760"/>
            <a:ext cx="278892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83864" y="1691639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3864" y="17830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67335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Nadia Al-Farsi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24231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Soft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2679191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COO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83864" y="293522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83864" y="29900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280 staff · 38+ 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864" y="32644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Cleaning · Landscaping · Security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81928" y="1508760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1928" y="1508760"/>
            <a:ext cx="278892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19088" y="1691639"/>
            <a:ext cx="594360" cy="5943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7830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167335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Faisal Al-Kuwari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24231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B8A6"/>
                </a:solidFill>
                <a:latin typeface="Calibri"/>
              </a:rPr>
              <a:t>Projects &amp; Eng.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2679191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Ops Dir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293522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9900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95 engineers · 100+ projects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32644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Fit-Out · Refurb · Delivery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17151" y="1508760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17151" y="1508760"/>
            <a:ext cx="278892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354311" y="1691639"/>
            <a:ext cx="594360" cy="59436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54311" y="17830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0111" y="167335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Rania Mahmoud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1" y="24231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Finance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54311" y="2679191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CFO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54311" y="293522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54311" y="299008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28 staff · QAR 500M+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1" y="32644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Budgeting · Payroll · Reporting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3977639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3977639"/>
            <a:ext cx="2788920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8640" y="4160520"/>
            <a:ext cx="594360" cy="594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51959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4440" y="414223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Aisha Al-Thani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8920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4899"/>
                </a:solidFill>
                <a:latin typeface="Calibri"/>
              </a:rPr>
              <a:t>Procurement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148072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CFO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0410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45896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18 staff · 200+ vendors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332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Contracts · Sourcing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346704" y="3977639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46704" y="3977639"/>
            <a:ext cx="27889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83864" y="4160520"/>
            <a:ext cx="594360" cy="5943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83864" y="4251959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9664" y="414223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Omar Siddiqui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83864" y="48920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IT &amp; Systems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83864" y="5148072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CTO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83864" y="540410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83864" y="545896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24 staff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7332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CAFM · CMMS · Mobile Platform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81928" y="3977639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81928" y="3977639"/>
            <a:ext cx="278892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19088" y="4160520"/>
            <a:ext cx="594360" cy="5943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4251959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04888" y="414223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Peter Collins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19088" y="48920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HSE &amp; Safety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19088" y="5148072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COO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19088" y="540410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545896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15 officers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57332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Audits · ISO 45001 · Incidents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17151" y="3977639"/>
            <a:ext cx="27889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17151" y="3977639"/>
            <a:ext cx="278892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354311" y="4160520"/>
            <a:ext cx="594360" cy="5943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54311" y="4251959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40111" y="4142231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22649"/>
                </a:solidFill>
                <a:latin typeface="Calibri"/>
              </a:rPr>
              <a:t>Linda Brown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54311" y="48920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Client Relations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54311" y="5148072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Reports to: Ops Dir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54311" y="5404104"/>
            <a:ext cx="2468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54311" y="545896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Team: 12 staff · 50+ accounts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54311" y="57332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SLA · Client Satisfaction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EMPLOYEE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Searchable Staff Directory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73152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91056"/>
            <a:ext cx="6949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🔍  Search by name, department or ID…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882127" y="1508760"/>
            <a:ext cx="1280160" cy="5486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7" y="1572768"/>
            <a:ext cx="1280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48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Showing 12 employees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487168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208" y="2560320"/>
            <a:ext cx="475488" cy="47548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260604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420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Mohammed Al-Mansoori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852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FM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5420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816352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281635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00400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1208" y="327355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331927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5526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Ahmed Al-Rashid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56616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Hard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529584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352958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913632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21208" y="3986784"/>
            <a:ext cx="475488" cy="475488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403250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6849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Sara Al-Kaabi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7939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Soft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9684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6240" y="4242816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42428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4626864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1208" y="4700016"/>
            <a:ext cx="475488" cy="47548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47457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6817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Khalid Al-Suwaidi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499262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HSE &amp; Safety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6817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06240" y="4956048"/>
            <a:ext cx="1645920" cy="21945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4956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C9A84C"/>
                </a:solidFill>
                <a:latin typeface="Calibri"/>
              </a:rPr>
              <a:t>On Leave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1480" y="5340096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21208" y="5413248"/>
            <a:ext cx="475488" cy="47548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1208" y="545896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3949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Fatima Al-Thani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" y="570585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Finance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06240" y="53949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06240" y="5669280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56692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6053328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1208" y="61264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617220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61081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Omar Al-Mutawa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641908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IT &amp; Systems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06240" y="61081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06240" y="6382512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63825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09360" y="2487168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19088" y="2560320"/>
            <a:ext cx="475488" cy="47548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19088" y="260604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25420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Layla Binhendi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60" y="2852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Procurement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04120" y="25420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20" y="2816352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04120" y="281635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09360" y="3200400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19088" y="3273552"/>
            <a:ext cx="475488" cy="47548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331927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95160" y="325526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Rami Aziz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95160" y="356616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Projects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0412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104120" y="3529584"/>
            <a:ext cx="1645920" cy="21945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04120" y="352958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C9A84C"/>
                </a:solidFill>
                <a:latin typeface="Calibri"/>
              </a:rPr>
              <a:t>On Leave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309360" y="3913632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419088" y="3986784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19088" y="403250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95160" y="396849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Noor Al-Ali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427939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Soft 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4120" y="396849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DI-2024-009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104120" y="4242816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4120" y="42428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309360" y="4626864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419088" y="4700016"/>
            <a:ext cx="475488" cy="47548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19088" y="47457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95160" y="46817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Hassan Al-Kawari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95160" y="499262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Hard Services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04120" y="46817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DI-2024-010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104120" y="4956048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4120" y="4956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309360" y="5340096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419088" y="5413248"/>
            <a:ext cx="475488" cy="475488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19088" y="545896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95160" y="53949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Dina Al-Ansari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95160" y="570585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Finance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04120" y="53949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DI-2024-011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104120" y="5669280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04120" y="56692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309360" y="6053328"/>
            <a:ext cx="5623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419088" y="6126480"/>
            <a:ext cx="475488" cy="475488"/>
          </a:xfrm>
          <a:prstGeom prst="ellipse">
            <a:avLst/>
          </a:prstGeom>
          <a:solidFill>
            <a:srgbClr val="2A5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19088" y="617220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95160" y="61081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22649"/>
                </a:solidFill>
                <a:latin typeface="Calibri"/>
              </a:rPr>
              <a:t>Yousuf Mansoor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95160" y="641908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Operations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04120" y="61081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DI-2024-012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104120" y="6382512"/>
            <a:ext cx="1645920" cy="219456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104120" y="63825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10B981"/>
                </a:solidFill>
                <a:latin typeface="Calibri"/>
              </a:rPr>
              <a:t>Active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PROFILE &amp; COMPANY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User Profile &amp; Company Information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50292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5029200" cy="192024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76272" y="1737360"/>
            <a:ext cx="1371600" cy="137160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6272" y="1810512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22649"/>
                </a:solidFill>
                <a:latin typeface="Calibri"/>
              </a:rP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Mohammed Al-Mansoori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9300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C96A"/>
                </a:solidFill>
                <a:latin typeface="Calibri"/>
              </a:rPr>
              <a:t>💼  Employee  ·  DI-2024-001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13632"/>
            <a:ext cx="1463040" cy="8046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22649"/>
                </a:solidFill>
                <a:latin typeface="Calibri"/>
              </a:rPr>
              <a:t>248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525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Tasks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30552" y="3913632"/>
            <a:ext cx="1463040" cy="804672"/>
          </a:xfrm>
          <a:prstGeom prst="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0552" y="3931920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22649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43525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Awards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2463" y="3913632"/>
            <a:ext cx="1463040" cy="80467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2463" y="3931920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22649"/>
                </a:solidFill>
                <a:latin typeface="Calibri"/>
              </a:rPr>
              <a:t>1.2y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2463" y="43525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Tenure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28032"/>
            <a:ext cx="4754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646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2649"/>
                </a:solidFill>
                <a:latin typeface="Calibri"/>
              </a:rPr>
              <a:t>Personal Information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8646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57216"/>
            <a:ext cx="4754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9379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2649"/>
                </a:solidFill>
                <a:latin typeface="Calibri"/>
              </a:rPr>
              <a:t>Security &amp; Password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1937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86400"/>
            <a:ext cx="4754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52297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2649"/>
                </a:solidFill>
                <a:latin typeface="Calibri"/>
              </a:rPr>
              <a:t>Employee Details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5229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815584"/>
            <a:ext cx="4754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8521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2649"/>
                </a:solidFill>
                <a:latin typeface="Calibri"/>
              </a:rPr>
              <a:t>Push Notifications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52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0B981"/>
                </a:solidFill>
                <a:latin typeface="Calibri"/>
              </a:rPr>
              <a:t>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144768"/>
            <a:ext cx="47548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8134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2649"/>
                </a:solidFill>
                <a:latin typeface="Calibri"/>
              </a:rPr>
              <a:t>Language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18134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English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0" y="1508760"/>
            <a:ext cx="61722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0" y="16002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COMPANY OVERVIEW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1828800"/>
            <a:ext cx="576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Darwish Interserve is a 100% Qatari-owned integrated facilities management company delivering world-class services across multiple sectors including aviation, education, government and commercial.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0" y="3950208"/>
            <a:ext cx="2944368" cy="1389888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0" y="40416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VISION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4279392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22649"/>
                </a:solidFill>
                <a:latin typeface="Calibri"/>
              </a:rPr>
              <a:t>To be the leading FM provider in Qatar through excellence and innovation.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96528" y="3950208"/>
            <a:ext cx="2944368" cy="1389888"/>
          </a:xfrm>
          <a:prstGeom prst="roundRect">
            <a:avLst>
              <a:gd name="adj" fmla="val 5000"/>
            </a:avLst>
          </a:prstGeom>
          <a:solidFill>
            <a:srgbClr val="FFF8E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9408" y="40416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MISSION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79408" y="4279392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22649"/>
                </a:solidFill>
                <a:latin typeface="Calibri"/>
              </a:rPr>
              <a:t>To deliver reliable FM services at the highest standards of safety and quality.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0" y="5449824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0" y="5449824"/>
            <a:ext cx="14630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0" y="55321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  <a:latin typeface="Calibri"/>
              </a:rPr>
              <a:t>Integrity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0" y="5449824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23760" y="5449824"/>
            <a:ext cx="146304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3760" y="55321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Excellence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78240" y="5449824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78240" y="5449824"/>
            <a:ext cx="146304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55321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  <a:latin typeface="Calibri"/>
              </a:rPr>
              <a:t>Innovation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332720" y="5449824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32720" y="5449824"/>
            <a:ext cx="146304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332720" y="55321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  <a:latin typeface="Calibri"/>
              </a:rPr>
              <a:t>Teamwork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0" y="6181344"/>
            <a:ext cx="1463040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0" y="6181344"/>
            <a:ext cx="146304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0" y="6236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  <a:latin typeface="Calibri"/>
              </a:rPr>
              <a:t>ISO 9001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23760" y="6181344"/>
            <a:ext cx="1463040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23760" y="6181344"/>
            <a:ext cx="14630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60" y="6236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  <a:latin typeface="Calibri"/>
              </a:rPr>
              <a:t>ISO 14001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6181344"/>
            <a:ext cx="1463040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78240" y="6181344"/>
            <a:ext cx="146304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78240" y="6236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ISO 45001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332720" y="6181344"/>
            <a:ext cx="1463040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32720" y="6181344"/>
            <a:ext cx="1463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332720" y="6236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  <a:latin typeface="Calibri"/>
              </a:rPr>
              <a:t>ISO 41001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TECHNOLOGY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Built for Scale, Speed &amp;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370332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37033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647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React Native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20824"/>
            <a:ext cx="3383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Cross-platform iOS &amp; Android from a single codebase. Native performance with JavaScript flexibility.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08760"/>
            <a:ext cx="370332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508760"/>
            <a:ext cx="3703320" cy="457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63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647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Expo ~51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020824"/>
            <a:ext cx="3383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10312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Managed workflow with OTA updates, push notifications, and deep-link support out of the box.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19" y="1508760"/>
            <a:ext cx="370332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19" y="1508760"/>
            <a:ext cx="370332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563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7647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React Navigation v6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2020824"/>
            <a:ext cx="3383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10312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Stack + Bottom-Tab navigation with smooth slide transitions and history management.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31920"/>
            <a:ext cx="370332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931920"/>
            <a:ext cx="370332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8678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187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OTP Authentication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43983"/>
            <a:ext cx="3383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Gmail (6-digit) for guests · SMS (6-digit) for employees · Auto-advance inputs · Countdown resend.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931920"/>
            <a:ext cx="370332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3931920"/>
            <a:ext cx="370332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398678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87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CAFM / CMMS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4443983"/>
            <a:ext cx="3383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52628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Integrated work-order management, asset tracking, and preventive maintenance scheduling.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75319" y="3931920"/>
            <a:ext cx="3703320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75319" y="3931920"/>
            <a:ext cx="3703320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398678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Deployment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187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 Pages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4443983"/>
            <a:ext cx="3383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4526280"/>
            <a:ext cx="3429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Live interactive HTML prototype hosted on GitHub Pages for stakeholder demos and reviews.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KEY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Value Delivered by the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2788920" cy="914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1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0552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Secure Dual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9631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Separate OTP flows for guests (Gmail) and employees (SMS). No password sharing, no unauthorised entry.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508760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508760"/>
            <a:ext cx="278892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64591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130552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Real-Time Visibility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49631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Live project progress bars, active site counts, and employee status updated instantly across the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508760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8" y="1508760"/>
            <a:ext cx="278892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164591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130552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Org Transparency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49631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Visual org chart from CEO to department heads, with clear reporting lines and team details for every leader.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7151" y="1508760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17151" y="1508760"/>
            <a:ext cx="278892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1" y="164591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1" y="2130552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Staff Directory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1" y="249631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Searchable employee list with department, ID, and Active / On Leave status — built for HR and operations teams.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977639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977639"/>
            <a:ext cx="27889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9943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Event Awareness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6519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Featured events, filter by category, RSVP tracking, and real-time notifications keep everyone aligned.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46704" y="3977639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46704" y="3977639"/>
            <a:ext cx="278892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83864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459943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Cross-Platform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496519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One React Native codebase runs natively on iOS and Android with identical UX and performance.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1928" y="3977639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81928" y="3977639"/>
            <a:ext cx="278892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59943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Projects at a Glance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96519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Project portfolio with progress tracking, site count, workforce and milestone dates — visible to management in seconds.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17151" y="3977639"/>
            <a:ext cx="27889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17151" y="3977639"/>
            <a:ext cx="278892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54311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4311" y="459943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22649"/>
                </a:solidFill>
                <a:latin typeface="Calibri"/>
              </a:rPr>
              <a:t>Live Demo 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1" y="4965192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Calibri"/>
              </a:rPr>
              <a:t>Full interactive HTML prototype hosted on GitHub Pages for instant stakeholder access — no install required.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22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48640" y="5029200"/>
            <a:ext cx="2743200" cy="2743200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1645920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7043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Roadmap &amp; Call to 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1325880" cy="86868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10312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Q2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2331720"/>
            <a:ext cx="1828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2359152"/>
            <a:ext cx="2286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202082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Stakeholder Review &amp; Sign-off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3682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Present live demo to all department heads. Gather feedback and document change requests.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017520"/>
            <a:ext cx="1325880" cy="86868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154679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Q3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3383279"/>
            <a:ext cx="1828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0" y="3410712"/>
            <a:ext cx="2286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07238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41985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Connect app to CAFM/CMMS APIs. Enable live work-order creation, push notifications, and data sync.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69079"/>
            <a:ext cx="1325880" cy="86868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20624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Q3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83080" y="4434840"/>
            <a:ext cx="1828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0" y="4462271"/>
            <a:ext cx="2286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48840" y="4123943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UAT &amp; Employee Onboarding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47141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Pilot with 50 employees. Collect usability metrics, conduct training sessions, refine UX.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20640"/>
            <a:ext cx="1325880" cy="86868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25780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Q4 2026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5486400"/>
            <a:ext cx="1828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0" y="5513831"/>
            <a:ext cx="2286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5175503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Full Production Launch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52297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Go-live for all 3,500+ staff. App Store (iOS) and Google Play (Android) submission.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760720"/>
            <a:ext cx="5303520" cy="548640"/>
          </a:xfrm>
          <a:prstGeom prst="rect">
            <a:avLst/>
          </a:prstGeom>
          <a:solidFill>
            <a:srgbClr val="1F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77900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C96A"/>
                </a:solidFill>
                <a:latin typeface="Calibri"/>
              </a:rPr>
              <a:t>🌐  Live Demo Available Now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5760720"/>
            <a:ext cx="576072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5788152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22649"/>
                </a:solidFill>
                <a:latin typeface="Calibri"/>
              </a:rPr>
              <a:t>mebikramshah-design.github.io/Mobille-App-Final-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512064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555955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9AA"/>
                </a:solidFill>
                <a:latin typeface="Calibri"/>
              </a:rPr>
              <a:t>Darwish Interserve Facility Management  ·  Qatar  · 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  <a:latin typeface="Calibri"/>
              </a:rPr>
              <a:t>CONFIDENTIAL — FOR MANAGEMENT USE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